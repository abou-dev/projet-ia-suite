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18"/>
    <p:sldId id="257" r:id="rId19"/>
    <p:sldId id="258" r:id="rId20"/>
    <p:sldId id="259" r:id="rId21"/>
    <p:sldId id="260" r:id="rId22"/>
    <p:sldId id="261" r:id="rId23"/>
    <p:sldId id="262" r:id="rId24"/>
    <p:sldId id="263" r:id="rId25"/>
    <p:sldId id="264" r:id="rId26"/>
    <p:sldId id="265" r:id="rId27"/>
    <p:sldId id="266" r:id="rId28"/>
    <p:sldId id="267" r:id="rId29"/>
    <p:sldId id="268" r:id="rId30"/>
    <p:sldId id="269" r:id="rId31"/>
  </p:sldIdLst>
  <p:sldSz cx="18288000" cy="10287000"/>
  <p:notesSz cx="6858000" cy="9144000"/>
  <p:embeddedFontLst>
    <p:embeddedFont>
      <p:font typeface="Arimo" charset="1" panose="020B0604020202020204"/>
      <p:regular r:id="rId6"/>
    </p:embeddedFont>
    <p:embeddedFont>
      <p:font typeface="Arimo Bold" charset="1" panose="020B0704020202020204"/>
      <p:regular r:id="rId7"/>
    </p:embeddedFont>
    <p:embeddedFont>
      <p:font typeface="Arimo Italics" charset="1" panose="020B0604020202090204"/>
      <p:regular r:id="rId8"/>
    </p:embeddedFont>
    <p:embeddedFont>
      <p:font typeface="Arimo Bold Italics" charset="1" panose="020B0704020202090204"/>
      <p:regular r:id="rId9"/>
    </p:embeddedFont>
    <p:embeddedFont>
      <p:font typeface="Boston Angel" charset="1" panose="00000000000000000000"/>
      <p:regular r:id="rId10"/>
    </p:embeddedFont>
    <p:embeddedFont>
      <p:font typeface="Boston Angel Bold" charset="1" panose="00000000000000000000"/>
      <p:regular r:id="rId11"/>
    </p:embeddedFont>
    <p:embeddedFont>
      <p:font typeface="Canva Sans" charset="1" panose="020B0503030501040103"/>
      <p:regular r:id="rId12"/>
    </p:embeddedFont>
    <p:embeddedFont>
      <p:font typeface="Canva Sans Bold" charset="1" panose="020B0803030501040103"/>
      <p:regular r:id="rId13"/>
    </p:embeddedFont>
    <p:embeddedFont>
      <p:font typeface="Canva Sans Italics" charset="1" panose="020B0503030501040103"/>
      <p:regular r:id="rId14"/>
    </p:embeddedFont>
    <p:embeddedFont>
      <p:font typeface="Canva Sans Bold Italics" charset="1" panose="020B0803030501040103"/>
      <p:regular r:id="rId15"/>
    </p:embeddedFont>
    <p:embeddedFont>
      <p:font typeface="Canva Sans Medium" charset="1" panose="020B0603030501040103"/>
      <p:regular r:id="rId16"/>
    </p:embeddedFont>
    <p:embeddedFont>
      <p:font typeface="Canva Sans Medium Italics" charset="1" panose="020B0603030501040103"/>
      <p:regular r:id="rId1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fonts/font10.fntdata" Type="http://schemas.openxmlformats.org/officeDocument/2006/relationships/font"/><Relationship Id="rId11" Target="fonts/font11.fntdata" Type="http://schemas.openxmlformats.org/officeDocument/2006/relationships/font"/><Relationship Id="rId12" Target="fonts/font12.fntdata" Type="http://schemas.openxmlformats.org/officeDocument/2006/relationships/font"/><Relationship Id="rId13" Target="fonts/font13.fntdata" Type="http://schemas.openxmlformats.org/officeDocument/2006/relationships/font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slides/slide1.xml" Type="http://schemas.openxmlformats.org/officeDocument/2006/relationships/slide"/><Relationship Id="rId19" Target="slides/slide2.xml" Type="http://schemas.openxmlformats.org/officeDocument/2006/relationships/slide"/><Relationship Id="rId2" Target="presProps.xml" Type="http://schemas.openxmlformats.org/officeDocument/2006/relationships/presProps"/><Relationship Id="rId20" Target="slides/slide3.xml" Type="http://schemas.openxmlformats.org/officeDocument/2006/relationships/slide"/><Relationship Id="rId21" Target="slides/slide4.xml" Type="http://schemas.openxmlformats.org/officeDocument/2006/relationships/slide"/><Relationship Id="rId22" Target="slides/slide5.xml" Type="http://schemas.openxmlformats.org/officeDocument/2006/relationships/slide"/><Relationship Id="rId23" Target="slides/slide6.xml" Type="http://schemas.openxmlformats.org/officeDocument/2006/relationships/slide"/><Relationship Id="rId24" Target="slides/slide7.xml" Type="http://schemas.openxmlformats.org/officeDocument/2006/relationships/slide"/><Relationship Id="rId25" Target="slides/slide8.xml" Type="http://schemas.openxmlformats.org/officeDocument/2006/relationships/slide"/><Relationship Id="rId26" Target="slides/slide9.xml" Type="http://schemas.openxmlformats.org/officeDocument/2006/relationships/slide"/><Relationship Id="rId27" Target="slides/slide10.xml" Type="http://schemas.openxmlformats.org/officeDocument/2006/relationships/slide"/><Relationship Id="rId28" Target="slides/slide11.xml" Type="http://schemas.openxmlformats.org/officeDocument/2006/relationships/slide"/><Relationship Id="rId29" Target="slides/slide12.xml" Type="http://schemas.openxmlformats.org/officeDocument/2006/relationships/slide"/><Relationship Id="rId3" Target="viewProps.xml" Type="http://schemas.openxmlformats.org/officeDocument/2006/relationships/viewProps"/><Relationship Id="rId30" Target="slides/slide13.xml" Type="http://schemas.openxmlformats.org/officeDocument/2006/relationships/slide"/><Relationship Id="rId31" Target="slides/slide14.xml" Type="http://schemas.openxmlformats.org/officeDocument/2006/relationships/slide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fonts/font6.fntdata" Type="http://schemas.openxmlformats.org/officeDocument/2006/relationships/font"/><Relationship Id="rId7" Target="fonts/font7.fntdata" Type="http://schemas.openxmlformats.org/officeDocument/2006/relationships/font"/><Relationship Id="rId8" Target="fonts/font8.fntdata" Type="http://schemas.openxmlformats.org/officeDocument/2006/relationships/font"/><Relationship Id="rId9" Target="fonts/font9.fntdata" Type="http://schemas.openxmlformats.org/officeDocument/2006/relationships/font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jpeg" Type="http://schemas.openxmlformats.org/officeDocument/2006/relationships/image"/><Relationship Id="rId3" Target="../media/image1.png" Type="http://schemas.openxmlformats.org/officeDocument/2006/relationships/image"/><Relationship Id="rId4" Target="../media/image2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7.svg" Type="http://schemas.openxmlformats.org/officeDocument/2006/relationships/image"/><Relationship Id="rId4" Target="../media/image1.png" Type="http://schemas.openxmlformats.org/officeDocument/2006/relationships/image"/><Relationship Id="rId5" Target="../media/image2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Relationship Id="rId3" Target="../media/image1.png" Type="http://schemas.openxmlformats.org/officeDocument/2006/relationships/image"/><Relationship Id="rId4" Target="../media/image2.sv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1.jpe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57145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1787385" y="-59406"/>
            <a:ext cx="3256834" cy="5996663"/>
            <a:chOff x="0" y="0"/>
            <a:chExt cx="660400" cy="121596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60400" cy="1215965"/>
            </a:xfrm>
            <a:custGeom>
              <a:avLst/>
              <a:gdLst/>
              <a:ahLst/>
              <a:cxnLst/>
              <a:rect r="r" b="b" t="t" l="l"/>
              <a:pathLst>
                <a:path h="1215965" w="660400">
                  <a:moveTo>
                    <a:pt x="220252" y="1196896"/>
                  </a:moveTo>
                  <a:cubicBezTo>
                    <a:pt x="254109" y="1208410"/>
                    <a:pt x="292600" y="1215965"/>
                    <a:pt x="330378" y="1215965"/>
                  </a:cubicBezTo>
                  <a:cubicBezTo>
                    <a:pt x="368157" y="1215965"/>
                    <a:pt x="404509" y="1209488"/>
                    <a:pt x="438009" y="1197974"/>
                  </a:cubicBezTo>
                  <a:cubicBezTo>
                    <a:pt x="438723" y="1197615"/>
                    <a:pt x="439435" y="1197615"/>
                    <a:pt x="440148" y="1197256"/>
                  </a:cubicBezTo>
                  <a:cubicBezTo>
                    <a:pt x="565955" y="1151200"/>
                    <a:pt x="658618" y="1029586"/>
                    <a:pt x="660400" y="878508"/>
                  </a:cubicBezTo>
                  <a:lnTo>
                    <a:pt x="660400" y="0"/>
                  </a:lnTo>
                  <a:lnTo>
                    <a:pt x="0" y="0"/>
                  </a:lnTo>
                  <a:lnTo>
                    <a:pt x="0" y="877856"/>
                  </a:lnTo>
                  <a:cubicBezTo>
                    <a:pt x="1782" y="1030305"/>
                    <a:pt x="93019" y="1151920"/>
                    <a:pt x="220252" y="1196896"/>
                  </a:cubicBezTo>
                  <a:close/>
                </a:path>
              </a:pathLst>
            </a:custGeom>
            <a:solidFill>
              <a:srgbClr val="8144A2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19050"/>
              <a:ext cx="660400" cy="11080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4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-10800000">
            <a:off x="15031166" y="1905674"/>
            <a:ext cx="3256834" cy="5124493"/>
            <a:chOff x="0" y="0"/>
            <a:chExt cx="660400" cy="103911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660400" cy="1039112"/>
            </a:xfrm>
            <a:custGeom>
              <a:avLst/>
              <a:gdLst/>
              <a:ahLst/>
              <a:cxnLst/>
              <a:rect r="r" b="b" t="t" l="l"/>
              <a:pathLst>
                <a:path h="1039112" w="660400">
                  <a:moveTo>
                    <a:pt x="220252" y="1020043"/>
                  </a:moveTo>
                  <a:cubicBezTo>
                    <a:pt x="254109" y="1031557"/>
                    <a:pt x="292600" y="1039112"/>
                    <a:pt x="330378" y="1039112"/>
                  </a:cubicBezTo>
                  <a:cubicBezTo>
                    <a:pt x="368157" y="1039112"/>
                    <a:pt x="404509" y="1032635"/>
                    <a:pt x="438009" y="1021121"/>
                  </a:cubicBezTo>
                  <a:cubicBezTo>
                    <a:pt x="438723" y="1020762"/>
                    <a:pt x="439435" y="1020762"/>
                    <a:pt x="440148" y="1020402"/>
                  </a:cubicBezTo>
                  <a:cubicBezTo>
                    <a:pt x="565955" y="974347"/>
                    <a:pt x="658618" y="852733"/>
                    <a:pt x="660400" y="705583"/>
                  </a:cubicBezTo>
                  <a:lnTo>
                    <a:pt x="660400" y="0"/>
                  </a:lnTo>
                  <a:lnTo>
                    <a:pt x="0" y="0"/>
                  </a:lnTo>
                  <a:lnTo>
                    <a:pt x="0" y="705059"/>
                  </a:lnTo>
                  <a:cubicBezTo>
                    <a:pt x="1782" y="853452"/>
                    <a:pt x="93019" y="975067"/>
                    <a:pt x="220252" y="1020043"/>
                  </a:cubicBezTo>
                  <a:close/>
                </a:path>
              </a:pathLst>
            </a:custGeom>
            <a:solidFill>
              <a:srgbClr val="652C84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19050"/>
              <a:ext cx="660400" cy="93116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40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5031166" y="-59406"/>
            <a:ext cx="3256834" cy="1965079"/>
            <a:chOff x="0" y="0"/>
            <a:chExt cx="660400" cy="398466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660400" cy="398466"/>
            </a:xfrm>
            <a:custGeom>
              <a:avLst/>
              <a:gdLst/>
              <a:ahLst/>
              <a:cxnLst/>
              <a:rect r="r" b="b" t="t" l="l"/>
              <a:pathLst>
                <a:path h="398466" w="660400">
                  <a:moveTo>
                    <a:pt x="220252" y="379397"/>
                  </a:moveTo>
                  <a:cubicBezTo>
                    <a:pt x="254109" y="390911"/>
                    <a:pt x="292600" y="398466"/>
                    <a:pt x="330378" y="398466"/>
                  </a:cubicBezTo>
                  <a:cubicBezTo>
                    <a:pt x="368157" y="398466"/>
                    <a:pt x="404509" y="391989"/>
                    <a:pt x="438009" y="380475"/>
                  </a:cubicBezTo>
                  <a:cubicBezTo>
                    <a:pt x="438723" y="380116"/>
                    <a:pt x="439435" y="380116"/>
                    <a:pt x="440148" y="379757"/>
                  </a:cubicBezTo>
                  <a:cubicBezTo>
                    <a:pt x="565955" y="333701"/>
                    <a:pt x="658618" y="212087"/>
                    <a:pt x="660400" y="79168"/>
                  </a:cubicBezTo>
                  <a:lnTo>
                    <a:pt x="660400" y="0"/>
                  </a:lnTo>
                  <a:lnTo>
                    <a:pt x="0" y="0"/>
                  </a:lnTo>
                  <a:lnTo>
                    <a:pt x="0" y="79109"/>
                  </a:lnTo>
                  <a:cubicBezTo>
                    <a:pt x="1782" y="212806"/>
                    <a:pt x="93019" y="334421"/>
                    <a:pt x="220252" y="379397"/>
                  </a:cubicBezTo>
                  <a:close/>
                </a:path>
              </a:pathLst>
            </a:custGeom>
            <a:solidFill>
              <a:srgbClr val="F15A29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19050"/>
              <a:ext cx="660400" cy="29051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40"/>
                </a:lnSpc>
              </a:pP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0">
            <a:off x="12869668" y="5937258"/>
            <a:ext cx="1092268" cy="1092268"/>
          </a:xfrm>
          <a:custGeom>
            <a:avLst/>
            <a:gdLst/>
            <a:ahLst/>
            <a:cxnLst/>
            <a:rect r="r" b="b" t="t" l="l"/>
            <a:pathLst>
              <a:path h="1092268" w="1092268">
                <a:moveTo>
                  <a:pt x="0" y="0"/>
                </a:moveTo>
                <a:lnTo>
                  <a:pt x="1092268" y="0"/>
                </a:lnTo>
                <a:lnTo>
                  <a:pt x="1092268" y="1092268"/>
                </a:lnTo>
                <a:lnTo>
                  <a:pt x="0" y="109226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5031166" y="7030166"/>
            <a:ext cx="3256834" cy="3256834"/>
          </a:xfrm>
          <a:custGeom>
            <a:avLst/>
            <a:gdLst/>
            <a:ahLst/>
            <a:cxnLst/>
            <a:rect r="r" b="b" t="t" l="l"/>
            <a:pathLst>
              <a:path h="3256834" w="3256834">
                <a:moveTo>
                  <a:pt x="0" y="0"/>
                </a:moveTo>
                <a:lnTo>
                  <a:pt x="3256834" y="0"/>
                </a:lnTo>
                <a:lnTo>
                  <a:pt x="3256834" y="3256834"/>
                </a:lnTo>
                <a:lnTo>
                  <a:pt x="0" y="325683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3" id="13"/>
          <p:cNvGrpSpPr/>
          <p:nvPr/>
        </p:nvGrpSpPr>
        <p:grpSpPr>
          <a:xfrm rot="0">
            <a:off x="11787385" y="7029526"/>
            <a:ext cx="3256834" cy="3257474"/>
            <a:chOff x="0" y="0"/>
            <a:chExt cx="887087" cy="887261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887087" cy="887261"/>
            </a:xfrm>
            <a:custGeom>
              <a:avLst/>
              <a:gdLst/>
              <a:ahLst/>
              <a:cxnLst/>
              <a:rect r="r" b="b" t="t" l="l"/>
              <a:pathLst>
                <a:path h="887261" w="887087">
                  <a:moveTo>
                    <a:pt x="0" y="0"/>
                  </a:moveTo>
                  <a:lnTo>
                    <a:pt x="887087" y="0"/>
                  </a:lnTo>
                  <a:lnTo>
                    <a:pt x="887087" y="887261"/>
                  </a:lnTo>
                  <a:lnTo>
                    <a:pt x="0" y="887261"/>
                  </a:lnTo>
                  <a:close/>
                </a:path>
              </a:pathLst>
            </a:custGeom>
            <a:solidFill>
              <a:srgbClr val="F15A29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38100"/>
              <a:ext cx="887087" cy="92536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6" id="16"/>
          <p:cNvSpPr txBox="true"/>
          <p:nvPr/>
        </p:nvSpPr>
        <p:spPr>
          <a:xfrm rot="0">
            <a:off x="1370719" y="1866795"/>
            <a:ext cx="13832149" cy="32110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>
              <a:lnSpc>
                <a:spcPts val="8181"/>
              </a:lnSpc>
            </a:pPr>
            <a:r>
              <a:rPr lang="en-US" sz="7575">
                <a:solidFill>
                  <a:srgbClr val="FFFFFF"/>
                </a:solidFill>
                <a:latin typeface="Boston Angel"/>
              </a:rPr>
              <a:t>Optimisation des Hyperparamètres pour la Classification des Logiciels Malveillants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494914" y="7483353"/>
            <a:ext cx="3184293" cy="339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>
              <a:lnSpc>
                <a:spcPts val="2799"/>
              </a:lnSpc>
            </a:pPr>
            <a:r>
              <a:rPr lang="en-US" sz="1999">
                <a:solidFill>
                  <a:srgbClr val="FFFFFF"/>
                </a:solidFill>
                <a:latin typeface="Canva Sans Italics"/>
              </a:rPr>
              <a:t>Prepared by: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398322" y="8210793"/>
            <a:ext cx="4192252" cy="4474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>
              <a:lnSpc>
                <a:spcPts val="3686"/>
              </a:lnSpc>
            </a:pPr>
            <a:r>
              <a:rPr lang="en-US" sz="2633">
                <a:solidFill>
                  <a:srgbClr val="FFFFFF"/>
                </a:solidFill>
                <a:latin typeface="Canva Sans Italics"/>
              </a:rPr>
              <a:t>Aboubakar Saly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370719" y="8810830"/>
            <a:ext cx="4192252" cy="9141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>
              <a:lnSpc>
                <a:spcPts val="3686"/>
              </a:lnSpc>
            </a:pPr>
            <a:r>
              <a:rPr lang="en-US" sz="2633">
                <a:solidFill>
                  <a:srgbClr val="FFFFFF"/>
                </a:solidFill>
                <a:latin typeface="Canva Sans Italics"/>
              </a:rPr>
              <a:t>Mama NDIAYE</a:t>
            </a:r>
          </a:p>
          <a:p>
            <a:pPr>
              <a:lnSpc>
                <a:spcPts val="3686"/>
              </a:lnSpc>
            </a:pP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57145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3659925" y="4987518"/>
            <a:ext cx="4628075" cy="5299482"/>
            <a:chOff x="0" y="0"/>
            <a:chExt cx="6170766" cy="7065976"/>
          </a:xfrm>
        </p:grpSpPr>
        <p:pic>
          <p:nvPicPr>
            <p:cNvPr name="Picture 3" id="3"/>
            <p:cNvPicPr>
              <a:picLocks noChangeAspect="true"/>
            </p:cNvPicPr>
            <p:nvPr/>
          </p:nvPicPr>
          <p:blipFill>
            <a:blip r:embed="rId2"/>
            <a:srcRect l="0" t="11830" r="0" b="11830"/>
            <a:stretch>
              <a:fillRect/>
            </a:stretch>
          </p:blipFill>
          <p:spPr>
            <a:xfrm flipH="false" flipV="false">
              <a:off x="0" y="0"/>
              <a:ext cx="6170766" cy="7065976"/>
            </a:xfrm>
            <a:prstGeom prst="rect">
              <a:avLst/>
            </a:prstGeom>
          </p:spPr>
        </p:pic>
      </p:grpSp>
      <p:grpSp>
        <p:nvGrpSpPr>
          <p:cNvPr name="Group 4" id="4"/>
          <p:cNvGrpSpPr/>
          <p:nvPr/>
        </p:nvGrpSpPr>
        <p:grpSpPr>
          <a:xfrm rot="0">
            <a:off x="13659925" y="-59406"/>
            <a:ext cx="2318684" cy="4269289"/>
            <a:chOff x="0" y="0"/>
            <a:chExt cx="660400" cy="1215965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660400" cy="1215965"/>
            </a:xfrm>
            <a:custGeom>
              <a:avLst/>
              <a:gdLst/>
              <a:ahLst/>
              <a:cxnLst/>
              <a:rect r="r" b="b" t="t" l="l"/>
              <a:pathLst>
                <a:path h="1215965" w="660400">
                  <a:moveTo>
                    <a:pt x="220252" y="1196896"/>
                  </a:moveTo>
                  <a:cubicBezTo>
                    <a:pt x="254109" y="1208410"/>
                    <a:pt x="292600" y="1215965"/>
                    <a:pt x="330378" y="1215965"/>
                  </a:cubicBezTo>
                  <a:cubicBezTo>
                    <a:pt x="368157" y="1215965"/>
                    <a:pt x="404509" y="1209488"/>
                    <a:pt x="438009" y="1197974"/>
                  </a:cubicBezTo>
                  <a:cubicBezTo>
                    <a:pt x="438723" y="1197615"/>
                    <a:pt x="439435" y="1197615"/>
                    <a:pt x="440148" y="1197256"/>
                  </a:cubicBezTo>
                  <a:cubicBezTo>
                    <a:pt x="565955" y="1151200"/>
                    <a:pt x="658618" y="1029586"/>
                    <a:pt x="660400" y="878508"/>
                  </a:cubicBezTo>
                  <a:lnTo>
                    <a:pt x="660400" y="0"/>
                  </a:lnTo>
                  <a:lnTo>
                    <a:pt x="0" y="0"/>
                  </a:lnTo>
                  <a:lnTo>
                    <a:pt x="0" y="877856"/>
                  </a:lnTo>
                  <a:cubicBezTo>
                    <a:pt x="1782" y="1030305"/>
                    <a:pt x="93019" y="1151920"/>
                    <a:pt x="220252" y="1196896"/>
                  </a:cubicBezTo>
                  <a:close/>
                </a:path>
              </a:pathLst>
            </a:custGeom>
            <a:solidFill>
              <a:srgbClr val="8144A2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19050"/>
              <a:ext cx="660400" cy="11080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40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-10800000">
            <a:off x="15969316" y="1339621"/>
            <a:ext cx="2318684" cy="3648353"/>
            <a:chOff x="0" y="0"/>
            <a:chExt cx="660400" cy="1039112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660400" cy="1039112"/>
            </a:xfrm>
            <a:custGeom>
              <a:avLst/>
              <a:gdLst/>
              <a:ahLst/>
              <a:cxnLst/>
              <a:rect r="r" b="b" t="t" l="l"/>
              <a:pathLst>
                <a:path h="1039112" w="660400">
                  <a:moveTo>
                    <a:pt x="220252" y="1020043"/>
                  </a:moveTo>
                  <a:cubicBezTo>
                    <a:pt x="254109" y="1031557"/>
                    <a:pt x="292600" y="1039112"/>
                    <a:pt x="330378" y="1039112"/>
                  </a:cubicBezTo>
                  <a:cubicBezTo>
                    <a:pt x="368157" y="1039112"/>
                    <a:pt x="404509" y="1032635"/>
                    <a:pt x="438009" y="1021121"/>
                  </a:cubicBezTo>
                  <a:cubicBezTo>
                    <a:pt x="438723" y="1020762"/>
                    <a:pt x="439435" y="1020762"/>
                    <a:pt x="440148" y="1020402"/>
                  </a:cubicBezTo>
                  <a:cubicBezTo>
                    <a:pt x="565955" y="974347"/>
                    <a:pt x="658618" y="852733"/>
                    <a:pt x="660400" y="705583"/>
                  </a:cubicBezTo>
                  <a:lnTo>
                    <a:pt x="660400" y="0"/>
                  </a:lnTo>
                  <a:lnTo>
                    <a:pt x="0" y="0"/>
                  </a:lnTo>
                  <a:lnTo>
                    <a:pt x="0" y="705059"/>
                  </a:lnTo>
                  <a:cubicBezTo>
                    <a:pt x="1782" y="853452"/>
                    <a:pt x="93019" y="975067"/>
                    <a:pt x="220252" y="1020043"/>
                  </a:cubicBezTo>
                  <a:close/>
                </a:path>
              </a:pathLst>
            </a:custGeom>
            <a:solidFill>
              <a:srgbClr val="652C84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19050"/>
              <a:ext cx="660400" cy="93116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40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5969316" y="-59406"/>
            <a:ext cx="2318684" cy="1399027"/>
            <a:chOff x="0" y="0"/>
            <a:chExt cx="660400" cy="398466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660400" cy="398466"/>
            </a:xfrm>
            <a:custGeom>
              <a:avLst/>
              <a:gdLst/>
              <a:ahLst/>
              <a:cxnLst/>
              <a:rect r="r" b="b" t="t" l="l"/>
              <a:pathLst>
                <a:path h="398466" w="660400">
                  <a:moveTo>
                    <a:pt x="220252" y="379397"/>
                  </a:moveTo>
                  <a:cubicBezTo>
                    <a:pt x="254109" y="390911"/>
                    <a:pt x="292600" y="398466"/>
                    <a:pt x="330378" y="398466"/>
                  </a:cubicBezTo>
                  <a:cubicBezTo>
                    <a:pt x="368157" y="398466"/>
                    <a:pt x="404509" y="391989"/>
                    <a:pt x="438009" y="380475"/>
                  </a:cubicBezTo>
                  <a:cubicBezTo>
                    <a:pt x="438723" y="380116"/>
                    <a:pt x="439435" y="380116"/>
                    <a:pt x="440148" y="379757"/>
                  </a:cubicBezTo>
                  <a:cubicBezTo>
                    <a:pt x="565955" y="333701"/>
                    <a:pt x="658618" y="212087"/>
                    <a:pt x="660400" y="79168"/>
                  </a:cubicBezTo>
                  <a:lnTo>
                    <a:pt x="660400" y="0"/>
                  </a:lnTo>
                  <a:lnTo>
                    <a:pt x="0" y="0"/>
                  </a:lnTo>
                  <a:lnTo>
                    <a:pt x="0" y="79109"/>
                  </a:lnTo>
                  <a:cubicBezTo>
                    <a:pt x="1782" y="212806"/>
                    <a:pt x="93019" y="334421"/>
                    <a:pt x="220252" y="379397"/>
                  </a:cubicBezTo>
                  <a:close/>
                </a:path>
              </a:pathLst>
            </a:custGeom>
            <a:solidFill>
              <a:srgbClr val="F15A29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19050"/>
              <a:ext cx="660400" cy="29051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40"/>
                </a:lnSpc>
              </a:pPr>
            </a:p>
          </p:txBody>
        </p:sp>
      </p:grpSp>
      <p:sp>
        <p:nvSpPr>
          <p:cNvPr name="Freeform 13" id="13"/>
          <p:cNvSpPr/>
          <p:nvPr/>
        </p:nvSpPr>
        <p:spPr>
          <a:xfrm flipH="false" flipV="false" rot="0">
            <a:off x="14430450" y="4209884"/>
            <a:ext cx="777634" cy="777634"/>
          </a:xfrm>
          <a:custGeom>
            <a:avLst/>
            <a:gdLst/>
            <a:ahLst/>
            <a:cxnLst/>
            <a:rect r="r" b="b" t="t" l="l"/>
            <a:pathLst>
              <a:path h="777634" w="777634">
                <a:moveTo>
                  <a:pt x="0" y="0"/>
                </a:moveTo>
                <a:lnTo>
                  <a:pt x="777634" y="0"/>
                </a:lnTo>
                <a:lnTo>
                  <a:pt x="777634" y="777634"/>
                </a:lnTo>
                <a:lnTo>
                  <a:pt x="0" y="77763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792442" y="1028700"/>
            <a:ext cx="11054191" cy="8362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>
              <a:lnSpc>
                <a:spcPts val="5940"/>
              </a:lnSpc>
            </a:pPr>
            <a:r>
              <a:rPr lang="en-US" sz="5500">
                <a:solidFill>
                  <a:srgbClr val="FFFFFF"/>
                </a:solidFill>
                <a:latin typeface="Boston Angel"/>
              </a:rPr>
              <a:t>Introduction 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792442" y="5540103"/>
            <a:ext cx="4030274" cy="8362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>
              <a:lnSpc>
                <a:spcPts val="5940"/>
              </a:lnSpc>
            </a:pPr>
            <a:r>
              <a:rPr lang="en-US" sz="5500">
                <a:solidFill>
                  <a:srgbClr val="FFFFFF"/>
                </a:solidFill>
                <a:latin typeface="Boston Angel"/>
              </a:rPr>
              <a:t>Objectifs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792442" y="2420734"/>
            <a:ext cx="10661414" cy="19704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>
              <a:lnSpc>
                <a:spcPts val="3915"/>
              </a:lnSpc>
            </a:pPr>
            <a:r>
              <a:rPr lang="en-US" sz="2796">
                <a:solidFill>
                  <a:srgbClr val="FFFFFF"/>
                </a:solidFill>
                <a:latin typeface="Canva Sans"/>
              </a:rPr>
              <a:t> Importance de la classification précise des logiciels malveillants. </a:t>
            </a:r>
          </a:p>
          <a:p>
            <a:pPr>
              <a:lnSpc>
                <a:spcPts val="3915"/>
              </a:lnSpc>
            </a:pPr>
          </a:p>
          <a:p>
            <a:pPr>
              <a:lnSpc>
                <a:spcPts val="3915"/>
              </a:lnSpc>
            </a:pPr>
            <a:r>
              <a:rPr lang="en-US" sz="2796">
                <a:solidFill>
                  <a:srgbClr val="FFFFFF"/>
                </a:solidFill>
                <a:latin typeface="Canva Sans"/>
              </a:rPr>
              <a:t>Rôle du Machine Learning dans la cybersécurité.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609983" y="7577342"/>
            <a:ext cx="2476140" cy="1298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sz="2499">
                <a:solidFill>
                  <a:srgbClr val="FFFFFF"/>
                </a:solidFill>
                <a:latin typeface="Canva Sans"/>
              </a:rPr>
              <a:t> Améliorer la précision de la classification.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5771648" y="7589634"/>
            <a:ext cx="3691703" cy="860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sz="2499">
                <a:solidFill>
                  <a:srgbClr val="FFFFFF"/>
                </a:solidFill>
                <a:latin typeface="Canva Sans"/>
              </a:rPr>
              <a:t>Explorer l'optimisation des hyperparamètres.</a:t>
            </a:r>
          </a:p>
        </p:txBody>
      </p:sp>
      <p:sp>
        <p:nvSpPr>
          <p:cNvPr name="AutoShape 19" id="19"/>
          <p:cNvSpPr/>
          <p:nvPr/>
        </p:nvSpPr>
        <p:spPr>
          <a:xfrm flipV="true">
            <a:off x="5332494" y="7000670"/>
            <a:ext cx="0" cy="2085978"/>
          </a:xfrm>
          <a:prstGeom prst="line">
            <a:avLst/>
          </a:prstGeom>
          <a:ln cap="flat" w="38100">
            <a:solidFill>
              <a:srgbClr val="F15A29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0" id="20"/>
          <p:cNvSpPr/>
          <p:nvPr/>
        </p:nvSpPr>
        <p:spPr>
          <a:xfrm flipV="true">
            <a:off x="10302042" y="7172322"/>
            <a:ext cx="0" cy="2085978"/>
          </a:xfrm>
          <a:prstGeom prst="line">
            <a:avLst/>
          </a:prstGeom>
          <a:ln cap="flat" w="38100">
            <a:solidFill>
              <a:srgbClr val="F15A29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57145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792442" y="1028700"/>
            <a:ext cx="11054191" cy="8362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>
              <a:lnSpc>
                <a:spcPts val="5940"/>
              </a:lnSpc>
            </a:pPr>
            <a:r>
              <a:rPr lang="en-US" sz="5500">
                <a:solidFill>
                  <a:srgbClr val="FFFFFF"/>
                </a:solidFill>
                <a:latin typeface="Boston Angel"/>
              </a:rPr>
              <a:t>Choix des Algorithmes</a:t>
            </a:r>
          </a:p>
        </p:txBody>
      </p:sp>
      <p:sp>
        <p:nvSpPr>
          <p:cNvPr name="AutoShape 3" id="3"/>
          <p:cNvSpPr/>
          <p:nvPr/>
        </p:nvSpPr>
        <p:spPr>
          <a:xfrm flipV="true">
            <a:off x="4581525" y="2987393"/>
            <a:ext cx="0" cy="4342472"/>
          </a:xfrm>
          <a:prstGeom prst="line">
            <a:avLst/>
          </a:prstGeom>
          <a:ln cap="flat" w="38100">
            <a:solidFill>
              <a:srgbClr val="F15A29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" id="4"/>
          <p:cNvSpPr/>
          <p:nvPr/>
        </p:nvSpPr>
        <p:spPr>
          <a:xfrm flipV="true">
            <a:off x="9144000" y="2987393"/>
            <a:ext cx="0" cy="4342472"/>
          </a:xfrm>
          <a:prstGeom prst="line">
            <a:avLst/>
          </a:prstGeom>
          <a:ln cap="flat" w="38100">
            <a:solidFill>
              <a:srgbClr val="F15A29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" id="5"/>
          <p:cNvSpPr/>
          <p:nvPr/>
        </p:nvSpPr>
        <p:spPr>
          <a:xfrm flipV="true">
            <a:off x="13706475" y="2987393"/>
            <a:ext cx="0" cy="4342472"/>
          </a:xfrm>
          <a:prstGeom prst="line">
            <a:avLst/>
          </a:prstGeom>
          <a:ln cap="flat" w="38100">
            <a:solidFill>
              <a:srgbClr val="F15A29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6" id="6"/>
          <p:cNvSpPr/>
          <p:nvPr/>
        </p:nvSpPr>
        <p:spPr>
          <a:xfrm>
            <a:off x="-383464" y="7339389"/>
            <a:ext cx="19138429" cy="0"/>
          </a:xfrm>
          <a:prstGeom prst="line">
            <a:avLst/>
          </a:prstGeom>
          <a:ln cap="flat" w="38100">
            <a:solidFill>
              <a:srgbClr val="F15A29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7" id="7"/>
          <p:cNvSpPr/>
          <p:nvPr/>
        </p:nvSpPr>
        <p:spPr>
          <a:xfrm>
            <a:off x="-383464" y="2987123"/>
            <a:ext cx="19138429" cy="0"/>
          </a:xfrm>
          <a:prstGeom prst="line">
            <a:avLst/>
          </a:prstGeom>
          <a:ln cap="flat" w="38100">
            <a:solidFill>
              <a:srgbClr val="F15A29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8" id="8"/>
          <p:cNvSpPr txBox="true"/>
          <p:nvPr/>
        </p:nvSpPr>
        <p:spPr>
          <a:xfrm rot="0">
            <a:off x="792442" y="4479790"/>
            <a:ext cx="2832030" cy="860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sz="2499">
                <a:solidFill>
                  <a:srgbClr val="FFFFFF"/>
                </a:solidFill>
                <a:latin typeface="Canva Sans"/>
              </a:rPr>
              <a:t>Decision Tree Classifier (DTC)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4666084" y="4709231"/>
            <a:ext cx="2677496" cy="422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sz="2499">
                <a:solidFill>
                  <a:srgbClr val="FFFFFF"/>
                </a:solidFill>
                <a:latin typeface="Canva Sans"/>
              </a:rPr>
              <a:t>LightGBM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5514004" y="4490156"/>
            <a:ext cx="2677496" cy="422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sz="2499">
                <a:solidFill>
                  <a:srgbClr val="FFFFFF"/>
                </a:solidFill>
                <a:latin typeface="Canva Sans"/>
              </a:rPr>
              <a:t>Random Forest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096500" y="4689475"/>
            <a:ext cx="2694055" cy="860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sz="2499">
                <a:solidFill>
                  <a:srgbClr val="FFFFFF"/>
                </a:solidFill>
                <a:latin typeface="Canva Sans"/>
              </a:rPr>
              <a:t>K-Nearest Neighbors (KNN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-105581" y="7299607"/>
            <a:ext cx="1372359" cy="2526864"/>
            <a:chOff x="0" y="0"/>
            <a:chExt cx="660400" cy="1215965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660400" cy="1215965"/>
            </a:xfrm>
            <a:custGeom>
              <a:avLst/>
              <a:gdLst/>
              <a:ahLst/>
              <a:cxnLst/>
              <a:rect r="r" b="b" t="t" l="l"/>
              <a:pathLst>
                <a:path h="1215965" w="660400">
                  <a:moveTo>
                    <a:pt x="220252" y="1196896"/>
                  </a:moveTo>
                  <a:cubicBezTo>
                    <a:pt x="254109" y="1208410"/>
                    <a:pt x="292600" y="1215965"/>
                    <a:pt x="330378" y="1215965"/>
                  </a:cubicBezTo>
                  <a:cubicBezTo>
                    <a:pt x="368157" y="1215965"/>
                    <a:pt x="404509" y="1209488"/>
                    <a:pt x="438009" y="1197974"/>
                  </a:cubicBezTo>
                  <a:cubicBezTo>
                    <a:pt x="438723" y="1197615"/>
                    <a:pt x="439435" y="1197615"/>
                    <a:pt x="440148" y="1197256"/>
                  </a:cubicBezTo>
                  <a:cubicBezTo>
                    <a:pt x="565955" y="1151200"/>
                    <a:pt x="658618" y="1029586"/>
                    <a:pt x="660400" y="878508"/>
                  </a:cubicBezTo>
                  <a:lnTo>
                    <a:pt x="660400" y="0"/>
                  </a:lnTo>
                  <a:lnTo>
                    <a:pt x="0" y="0"/>
                  </a:lnTo>
                  <a:lnTo>
                    <a:pt x="0" y="877856"/>
                  </a:lnTo>
                  <a:cubicBezTo>
                    <a:pt x="1782" y="1030305"/>
                    <a:pt x="93019" y="1151920"/>
                    <a:pt x="220252" y="1196896"/>
                  </a:cubicBezTo>
                  <a:close/>
                </a:path>
              </a:pathLst>
            </a:custGeom>
            <a:solidFill>
              <a:srgbClr val="8144A2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19050"/>
              <a:ext cx="660400" cy="11080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40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5548781" y="0"/>
            <a:ext cx="1372359" cy="2526864"/>
            <a:chOff x="0" y="0"/>
            <a:chExt cx="660400" cy="1215965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660400" cy="1215965"/>
            </a:xfrm>
            <a:custGeom>
              <a:avLst/>
              <a:gdLst/>
              <a:ahLst/>
              <a:cxnLst/>
              <a:rect r="r" b="b" t="t" l="l"/>
              <a:pathLst>
                <a:path h="1215965" w="660400">
                  <a:moveTo>
                    <a:pt x="220252" y="1196896"/>
                  </a:moveTo>
                  <a:cubicBezTo>
                    <a:pt x="254109" y="1208410"/>
                    <a:pt x="292600" y="1215965"/>
                    <a:pt x="330378" y="1215965"/>
                  </a:cubicBezTo>
                  <a:cubicBezTo>
                    <a:pt x="368157" y="1215965"/>
                    <a:pt x="404509" y="1209488"/>
                    <a:pt x="438009" y="1197974"/>
                  </a:cubicBezTo>
                  <a:cubicBezTo>
                    <a:pt x="438723" y="1197615"/>
                    <a:pt x="439435" y="1197615"/>
                    <a:pt x="440148" y="1197256"/>
                  </a:cubicBezTo>
                  <a:cubicBezTo>
                    <a:pt x="565955" y="1151200"/>
                    <a:pt x="658618" y="1029586"/>
                    <a:pt x="660400" y="878508"/>
                  </a:cubicBezTo>
                  <a:lnTo>
                    <a:pt x="660400" y="0"/>
                  </a:lnTo>
                  <a:lnTo>
                    <a:pt x="0" y="0"/>
                  </a:lnTo>
                  <a:lnTo>
                    <a:pt x="0" y="877856"/>
                  </a:lnTo>
                  <a:cubicBezTo>
                    <a:pt x="1782" y="1030305"/>
                    <a:pt x="93019" y="1151920"/>
                    <a:pt x="220252" y="1196896"/>
                  </a:cubicBezTo>
                  <a:close/>
                </a:path>
              </a:pathLst>
            </a:custGeom>
            <a:solidFill>
              <a:srgbClr val="8144A2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19050"/>
              <a:ext cx="660400" cy="11080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40"/>
                </a:lnSpc>
              </a:pPr>
            </a:p>
          </p:txBody>
        </p:sp>
      </p:grpSp>
      <p:grpSp>
        <p:nvGrpSpPr>
          <p:cNvPr name="Group 18" id="18"/>
          <p:cNvGrpSpPr/>
          <p:nvPr/>
        </p:nvGrpSpPr>
        <p:grpSpPr>
          <a:xfrm rot="-10800000">
            <a:off x="1261279" y="8127649"/>
            <a:ext cx="1372359" cy="2159351"/>
            <a:chOff x="0" y="0"/>
            <a:chExt cx="660400" cy="1039112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660400" cy="1039112"/>
            </a:xfrm>
            <a:custGeom>
              <a:avLst/>
              <a:gdLst/>
              <a:ahLst/>
              <a:cxnLst/>
              <a:rect r="r" b="b" t="t" l="l"/>
              <a:pathLst>
                <a:path h="1039112" w="660400">
                  <a:moveTo>
                    <a:pt x="220252" y="1020043"/>
                  </a:moveTo>
                  <a:cubicBezTo>
                    <a:pt x="254109" y="1031557"/>
                    <a:pt x="292600" y="1039112"/>
                    <a:pt x="330378" y="1039112"/>
                  </a:cubicBezTo>
                  <a:cubicBezTo>
                    <a:pt x="368157" y="1039112"/>
                    <a:pt x="404509" y="1032635"/>
                    <a:pt x="438009" y="1021121"/>
                  </a:cubicBezTo>
                  <a:cubicBezTo>
                    <a:pt x="438723" y="1020762"/>
                    <a:pt x="439435" y="1020762"/>
                    <a:pt x="440148" y="1020402"/>
                  </a:cubicBezTo>
                  <a:cubicBezTo>
                    <a:pt x="565955" y="974347"/>
                    <a:pt x="658618" y="852733"/>
                    <a:pt x="660400" y="705583"/>
                  </a:cubicBezTo>
                  <a:lnTo>
                    <a:pt x="660400" y="0"/>
                  </a:lnTo>
                  <a:lnTo>
                    <a:pt x="0" y="0"/>
                  </a:lnTo>
                  <a:lnTo>
                    <a:pt x="0" y="705059"/>
                  </a:lnTo>
                  <a:cubicBezTo>
                    <a:pt x="1782" y="853452"/>
                    <a:pt x="93019" y="975067"/>
                    <a:pt x="220252" y="1020043"/>
                  </a:cubicBezTo>
                  <a:close/>
                </a:path>
              </a:pathLst>
            </a:custGeom>
            <a:solidFill>
              <a:srgbClr val="652C84"/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19050"/>
              <a:ext cx="660400" cy="93116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40"/>
                </a:lnSpc>
              </a:pPr>
            </a:p>
          </p:txBody>
        </p:sp>
      </p:grpSp>
      <p:grpSp>
        <p:nvGrpSpPr>
          <p:cNvPr name="Group 21" id="21"/>
          <p:cNvGrpSpPr/>
          <p:nvPr/>
        </p:nvGrpSpPr>
        <p:grpSpPr>
          <a:xfrm rot="-10800000">
            <a:off x="16915641" y="828042"/>
            <a:ext cx="1372359" cy="2159351"/>
            <a:chOff x="0" y="0"/>
            <a:chExt cx="660400" cy="1039112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660400" cy="1039112"/>
            </a:xfrm>
            <a:custGeom>
              <a:avLst/>
              <a:gdLst/>
              <a:ahLst/>
              <a:cxnLst/>
              <a:rect r="r" b="b" t="t" l="l"/>
              <a:pathLst>
                <a:path h="1039112" w="660400">
                  <a:moveTo>
                    <a:pt x="220252" y="1020043"/>
                  </a:moveTo>
                  <a:cubicBezTo>
                    <a:pt x="254109" y="1031557"/>
                    <a:pt x="292600" y="1039112"/>
                    <a:pt x="330378" y="1039112"/>
                  </a:cubicBezTo>
                  <a:cubicBezTo>
                    <a:pt x="368157" y="1039112"/>
                    <a:pt x="404509" y="1032635"/>
                    <a:pt x="438009" y="1021121"/>
                  </a:cubicBezTo>
                  <a:cubicBezTo>
                    <a:pt x="438723" y="1020762"/>
                    <a:pt x="439435" y="1020762"/>
                    <a:pt x="440148" y="1020402"/>
                  </a:cubicBezTo>
                  <a:cubicBezTo>
                    <a:pt x="565955" y="974347"/>
                    <a:pt x="658618" y="852733"/>
                    <a:pt x="660400" y="705583"/>
                  </a:cubicBezTo>
                  <a:lnTo>
                    <a:pt x="660400" y="0"/>
                  </a:lnTo>
                  <a:lnTo>
                    <a:pt x="0" y="0"/>
                  </a:lnTo>
                  <a:lnTo>
                    <a:pt x="0" y="705059"/>
                  </a:lnTo>
                  <a:cubicBezTo>
                    <a:pt x="1782" y="853452"/>
                    <a:pt x="93019" y="975067"/>
                    <a:pt x="220252" y="1020043"/>
                  </a:cubicBezTo>
                  <a:close/>
                </a:path>
              </a:pathLst>
            </a:custGeom>
            <a:solidFill>
              <a:srgbClr val="652C84"/>
            </a:solid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19050"/>
              <a:ext cx="660400" cy="93116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40"/>
                </a:lnSpc>
              </a:pP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1261279" y="7299607"/>
            <a:ext cx="1372359" cy="828042"/>
            <a:chOff x="0" y="0"/>
            <a:chExt cx="660400" cy="398466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660400" cy="398466"/>
            </a:xfrm>
            <a:custGeom>
              <a:avLst/>
              <a:gdLst/>
              <a:ahLst/>
              <a:cxnLst/>
              <a:rect r="r" b="b" t="t" l="l"/>
              <a:pathLst>
                <a:path h="398466" w="660400">
                  <a:moveTo>
                    <a:pt x="220252" y="379397"/>
                  </a:moveTo>
                  <a:cubicBezTo>
                    <a:pt x="254109" y="390911"/>
                    <a:pt x="292600" y="398466"/>
                    <a:pt x="330378" y="398466"/>
                  </a:cubicBezTo>
                  <a:cubicBezTo>
                    <a:pt x="368157" y="398466"/>
                    <a:pt x="404509" y="391989"/>
                    <a:pt x="438009" y="380475"/>
                  </a:cubicBezTo>
                  <a:cubicBezTo>
                    <a:pt x="438723" y="380116"/>
                    <a:pt x="439435" y="380116"/>
                    <a:pt x="440148" y="379757"/>
                  </a:cubicBezTo>
                  <a:cubicBezTo>
                    <a:pt x="565955" y="333701"/>
                    <a:pt x="658618" y="212087"/>
                    <a:pt x="660400" y="79168"/>
                  </a:cubicBezTo>
                  <a:lnTo>
                    <a:pt x="660400" y="0"/>
                  </a:lnTo>
                  <a:lnTo>
                    <a:pt x="0" y="0"/>
                  </a:lnTo>
                  <a:lnTo>
                    <a:pt x="0" y="79109"/>
                  </a:lnTo>
                  <a:cubicBezTo>
                    <a:pt x="1782" y="212806"/>
                    <a:pt x="93019" y="334421"/>
                    <a:pt x="220252" y="379397"/>
                  </a:cubicBezTo>
                  <a:close/>
                </a:path>
              </a:pathLst>
            </a:custGeom>
            <a:solidFill>
              <a:srgbClr val="F15A29"/>
            </a:solid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19050"/>
              <a:ext cx="660400" cy="29051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40"/>
                </a:lnSpc>
              </a:pP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16915641" y="0"/>
            <a:ext cx="1372359" cy="828042"/>
            <a:chOff x="0" y="0"/>
            <a:chExt cx="660400" cy="398466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660400" cy="398466"/>
            </a:xfrm>
            <a:custGeom>
              <a:avLst/>
              <a:gdLst/>
              <a:ahLst/>
              <a:cxnLst/>
              <a:rect r="r" b="b" t="t" l="l"/>
              <a:pathLst>
                <a:path h="398466" w="660400">
                  <a:moveTo>
                    <a:pt x="220252" y="379397"/>
                  </a:moveTo>
                  <a:cubicBezTo>
                    <a:pt x="254109" y="390911"/>
                    <a:pt x="292600" y="398466"/>
                    <a:pt x="330378" y="398466"/>
                  </a:cubicBezTo>
                  <a:cubicBezTo>
                    <a:pt x="368157" y="398466"/>
                    <a:pt x="404509" y="391989"/>
                    <a:pt x="438009" y="380475"/>
                  </a:cubicBezTo>
                  <a:cubicBezTo>
                    <a:pt x="438723" y="380116"/>
                    <a:pt x="439435" y="380116"/>
                    <a:pt x="440148" y="379757"/>
                  </a:cubicBezTo>
                  <a:cubicBezTo>
                    <a:pt x="565955" y="333701"/>
                    <a:pt x="658618" y="212087"/>
                    <a:pt x="660400" y="79168"/>
                  </a:cubicBezTo>
                  <a:lnTo>
                    <a:pt x="660400" y="0"/>
                  </a:lnTo>
                  <a:lnTo>
                    <a:pt x="0" y="0"/>
                  </a:lnTo>
                  <a:lnTo>
                    <a:pt x="0" y="79109"/>
                  </a:lnTo>
                  <a:cubicBezTo>
                    <a:pt x="1782" y="212806"/>
                    <a:pt x="93019" y="334421"/>
                    <a:pt x="220252" y="379397"/>
                  </a:cubicBezTo>
                  <a:close/>
                </a:path>
              </a:pathLst>
            </a:custGeom>
            <a:solidFill>
              <a:srgbClr val="F15A29"/>
            </a:solid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19050"/>
              <a:ext cx="660400" cy="29051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40"/>
                </a:lnSpc>
              </a:pPr>
            </a:p>
          </p:txBody>
        </p:sp>
      </p:grpSp>
      <p:sp>
        <p:nvSpPr>
          <p:cNvPr name="Freeform 30" id="30"/>
          <p:cNvSpPr/>
          <p:nvPr/>
        </p:nvSpPr>
        <p:spPr>
          <a:xfrm flipH="false" flipV="false" rot="0">
            <a:off x="350470" y="9826472"/>
            <a:ext cx="460258" cy="460258"/>
          </a:xfrm>
          <a:custGeom>
            <a:avLst/>
            <a:gdLst/>
            <a:ahLst/>
            <a:cxnLst/>
            <a:rect r="r" b="b" t="t" l="l"/>
            <a:pathLst>
              <a:path h="460258" w="460258">
                <a:moveTo>
                  <a:pt x="0" y="0"/>
                </a:moveTo>
                <a:lnTo>
                  <a:pt x="460258" y="0"/>
                </a:lnTo>
                <a:lnTo>
                  <a:pt x="460258" y="460258"/>
                </a:lnTo>
                <a:lnTo>
                  <a:pt x="0" y="46025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1" id="31"/>
          <p:cNvSpPr/>
          <p:nvPr/>
        </p:nvSpPr>
        <p:spPr>
          <a:xfrm flipH="false" flipV="false" rot="0">
            <a:off x="16004832" y="2526864"/>
            <a:ext cx="460258" cy="460258"/>
          </a:xfrm>
          <a:custGeom>
            <a:avLst/>
            <a:gdLst/>
            <a:ahLst/>
            <a:cxnLst/>
            <a:rect r="r" b="b" t="t" l="l"/>
            <a:pathLst>
              <a:path h="460258" w="460258">
                <a:moveTo>
                  <a:pt x="0" y="0"/>
                </a:moveTo>
                <a:lnTo>
                  <a:pt x="460258" y="0"/>
                </a:lnTo>
                <a:lnTo>
                  <a:pt x="460258" y="460259"/>
                </a:lnTo>
                <a:lnTo>
                  <a:pt x="0" y="46025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57145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3006851" y="0"/>
            <a:ext cx="2645877" cy="4871735"/>
            <a:chOff x="0" y="0"/>
            <a:chExt cx="660400" cy="121596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60400" cy="1215965"/>
            </a:xfrm>
            <a:custGeom>
              <a:avLst/>
              <a:gdLst/>
              <a:ahLst/>
              <a:cxnLst/>
              <a:rect r="r" b="b" t="t" l="l"/>
              <a:pathLst>
                <a:path h="1215965" w="660400">
                  <a:moveTo>
                    <a:pt x="220252" y="1196896"/>
                  </a:moveTo>
                  <a:cubicBezTo>
                    <a:pt x="254109" y="1208410"/>
                    <a:pt x="292600" y="1215965"/>
                    <a:pt x="330378" y="1215965"/>
                  </a:cubicBezTo>
                  <a:cubicBezTo>
                    <a:pt x="368157" y="1215965"/>
                    <a:pt x="404509" y="1209488"/>
                    <a:pt x="438009" y="1197974"/>
                  </a:cubicBezTo>
                  <a:cubicBezTo>
                    <a:pt x="438723" y="1197615"/>
                    <a:pt x="439435" y="1197615"/>
                    <a:pt x="440148" y="1197256"/>
                  </a:cubicBezTo>
                  <a:cubicBezTo>
                    <a:pt x="565955" y="1151200"/>
                    <a:pt x="658618" y="1029586"/>
                    <a:pt x="660400" y="878508"/>
                  </a:cubicBezTo>
                  <a:lnTo>
                    <a:pt x="660400" y="0"/>
                  </a:lnTo>
                  <a:lnTo>
                    <a:pt x="0" y="0"/>
                  </a:lnTo>
                  <a:lnTo>
                    <a:pt x="0" y="877856"/>
                  </a:lnTo>
                  <a:cubicBezTo>
                    <a:pt x="1782" y="1030305"/>
                    <a:pt x="93019" y="1151920"/>
                    <a:pt x="220252" y="1196896"/>
                  </a:cubicBezTo>
                  <a:close/>
                </a:path>
              </a:pathLst>
            </a:custGeom>
            <a:solidFill>
              <a:srgbClr val="8144A2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19050"/>
              <a:ext cx="660400" cy="11080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4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-10800000">
            <a:off x="15642123" y="1596445"/>
            <a:ext cx="2645877" cy="4163177"/>
            <a:chOff x="0" y="0"/>
            <a:chExt cx="660400" cy="103911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660400" cy="1039112"/>
            </a:xfrm>
            <a:custGeom>
              <a:avLst/>
              <a:gdLst/>
              <a:ahLst/>
              <a:cxnLst/>
              <a:rect r="r" b="b" t="t" l="l"/>
              <a:pathLst>
                <a:path h="1039112" w="660400">
                  <a:moveTo>
                    <a:pt x="220252" y="1020043"/>
                  </a:moveTo>
                  <a:cubicBezTo>
                    <a:pt x="254109" y="1031557"/>
                    <a:pt x="292600" y="1039112"/>
                    <a:pt x="330378" y="1039112"/>
                  </a:cubicBezTo>
                  <a:cubicBezTo>
                    <a:pt x="368157" y="1039112"/>
                    <a:pt x="404509" y="1032635"/>
                    <a:pt x="438009" y="1021121"/>
                  </a:cubicBezTo>
                  <a:cubicBezTo>
                    <a:pt x="438723" y="1020762"/>
                    <a:pt x="439435" y="1020762"/>
                    <a:pt x="440148" y="1020402"/>
                  </a:cubicBezTo>
                  <a:cubicBezTo>
                    <a:pt x="565955" y="974347"/>
                    <a:pt x="658618" y="852733"/>
                    <a:pt x="660400" y="705583"/>
                  </a:cubicBezTo>
                  <a:lnTo>
                    <a:pt x="660400" y="0"/>
                  </a:lnTo>
                  <a:lnTo>
                    <a:pt x="0" y="0"/>
                  </a:lnTo>
                  <a:lnTo>
                    <a:pt x="0" y="705059"/>
                  </a:lnTo>
                  <a:cubicBezTo>
                    <a:pt x="1782" y="853452"/>
                    <a:pt x="93019" y="975067"/>
                    <a:pt x="220252" y="1020043"/>
                  </a:cubicBezTo>
                  <a:close/>
                </a:path>
              </a:pathLst>
            </a:custGeom>
            <a:solidFill>
              <a:srgbClr val="652C84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19050"/>
              <a:ext cx="660400" cy="93116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40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5642123" y="0"/>
            <a:ext cx="2645877" cy="1596445"/>
            <a:chOff x="0" y="0"/>
            <a:chExt cx="660400" cy="398466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660400" cy="398466"/>
            </a:xfrm>
            <a:custGeom>
              <a:avLst/>
              <a:gdLst/>
              <a:ahLst/>
              <a:cxnLst/>
              <a:rect r="r" b="b" t="t" l="l"/>
              <a:pathLst>
                <a:path h="398466" w="660400">
                  <a:moveTo>
                    <a:pt x="220252" y="379397"/>
                  </a:moveTo>
                  <a:cubicBezTo>
                    <a:pt x="254109" y="390911"/>
                    <a:pt x="292600" y="398466"/>
                    <a:pt x="330378" y="398466"/>
                  </a:cubicBezTo>
                  <a:cubicBezTo>
                    <a:pt x="368157" y="398466"/>
                    <a:pt x="404509" y="391989"/>
                    <a:pt x="438009" y="380475"/>
                  </a:cubicBezTo>
                  <a:cubicBezTo>
                    <a:pt x="438723" y="380116"/>
                    <a:pt x="439435" y="380116"/>
                    <a:pt x="440148" y="379757"/>
                  </a:cubicBezTo>
                  <a:cubicBezTo>
                    <a:pt x="565955" y="333701"/>
                    <a:pt x="658618" y="212087"/>
                    <a:pt x="660400" y="79168"/>
                  </a:cubicBezTo>
                  <a:lnTo>
                    <a:pt x="660400" y="0"/>
                  </a:lnTo>
                  <a:lnTo>
                    <a:pt x="0" y="0"/>
                  </a:lnTo>
                  <a:lnTo>
                    <a:pt x="0" y="79109"/>
                  </a:lnTo>
                  <a:cubicBezTo>
                    <a:pt x="1782" y="212806"/>
                    <a:pt x="93019" y="334421"/>
                    <a:pt x="220252" y="379397"/>
                  </a:cubicBezTo>
                  <a:close/>
                </a:path>
              </a:pathLst>
            </a:custGeom>
            <a:solidFill>
              <a:srgbClr val="F15A29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19050"/>
              <a:ext cx="660400" cy="29051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40"/>
                </a:lnSpc>
              </a:pP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0">
            <a:off x="13886106" y="4871735"/>
            <a:ext cx="887367" cy="887367"/>
          </a:xfrm>
          <a:custGeom>
            <a:avLst/>
            <a:gdLst/>
            <a:ahLst/>
            <a:cxnLst/>
            <a:rect r="r" b="b" t="t" l="l"/>
            <a:pathLst>
              <a:path h="887367" w="887367">
                <a:moveTo>
                  <a:pt x="0" y="0"/>
                </a:moveTo>
                <a:lnTo>
                  <a:pt x="887366" y="0"/>
                </a:lnTo>
                <a:lnTo>
                  <a:pt x="887366" y="887367"/>
                </a:lnTo>
                <a:lnTo>
                  <a:pt x="0" y="88736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792442" y="1028700"/>
            <a:ext cx="12755401" cy="8362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>
              <a:lnSpc>
                <a:spcPts val="5940"/>
              </a:lnSpc>
            </a:pPr>
            <a:r>
              <a:rPr lang="en-US" sz="5500">
                <a:solidFill>
                  <a:srgbClr val="FFFFFF"/>
                </a:solidFill>
                <a:latin typeface="Boston Angel"/>
              </a:rPr>
              <a:t>Optimisation du Modèle avec Grid Search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357974" y="2325012"/>
            <a:ext cx="13971815" cy="48595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marL="600345" indent="-300172" lvl="1">
              <a:lnSpc>
                <a:spcPts val="3892"/>
              </a:lnSpc>
              <a:buFont typeface="Arial"/>
              <a:buChar char="•"/>
            </a:pPr>
            <a:r>
              <a:rPr lang="en-US" sz="2780">
                <a:solidFill>
                  <a:srgbClr val="FFFFFF"/>
                </a:solidFill>
                <a:latin typeface="Canva Sans Bold"/>
              </a:rPr>
              <a:t>Définition </a:t>
            </a:r>
            <a:r>
              <a:rPr lang="en-US" sz="2780">
                <a:solidFill>
                  <a:srgbClr val="FFFFFF"/>
                </a:solidFill>
                <a:latin typeface="Canva Sans"/>
              </a:rPr>
              <a:t>: Une méthode exhaustive qui teste toutes les combinaisons possibles d'hyperparamètres spécifiées dans une grille prédéfinie.</a:t>
            </a:r>
          </a:p>
          <a:p>
            <a:pPr>
              <a:lnSpc>
                <a:spcPts val="3892"/>
              </a:lnSpc>
            </a:pPr>
          </a:p>
          <a:p>
            <a:pPr>
              <a:lnSpc>
                <a:spcPts val="3892"/>
              </a:lnSpc>
            </a:pPr>
          </a:p>
          <a:p>
            <a:pPr marL="600345" indent="-300172" lvl="1">
              <a:lnSpc>
                <a:spcPts val="3892"/>
              </a:lnSpc>
              <a:buFont typeface="Arial"/>
              <a:buChar char="•"/>
            </a:pPr>
            <a:r>
              <a:rPr lang="en-US" sz="2780">
                <a:solidFill>
                  <a:srgbClr val="FFFFFF"/>
                </a:solidFill>
                <a:latin typeface="Canva Sans Bold"/>
              </a:rPr>
              <a:t>Avantages </a:t>
            </a:r>
            <a:r>
              <a:rPr lang="en-US" sz="2780">
                <a:solidFill>
                  <a:srgbClr val="FFFFFF"/>
                </a:solidFill>
                <a:latin typeface="Canva Sans"/>
              </a:rPr>
              <a:t>: Assure la découverte de la meilleure combinaison d'hyperparamètres si celle-ci se trouve dans la grille spécifiée.</a:t>
            </a:r>
          </a:p>
          <a:p>
            <a:pPr>
              <a:lnSpc>
                <a:spcPts val="3892"/>
              </a:lnSpc>
            </a:pPr>
          </a:p>
          <a:p>
            <a:pPr marL="600345" indent="-300172" lvl="1">
              <a:lnSpc>
                <a:spcPts val="3892"/>
              </a:lnSpc>
              <a:buFont typeface="Arial"/>
              <a:buChar char="•"/>
            </a:pPr>
            <a:r>
              <a:rPr lang="en-US" sz="2780">
                <a:solidFill>
                  <a:srgbClr val="FFFFFF"/>
                </a:solidFill>
                <a:latin typeface="Canva Sans Bold"/>
              </a:rPr>
              <a:t>Inconvénients </a:t>
            </a:r>
            <a:r>
              <a:rPr lang="en-US" sz="2780">
                <a:solidFill>
                  <a:srgbClr val="FFFFFF"/>
                </a:solidFill>
                <a:latin typeface="Canva Sans"/>
              </a:rPr>
              <a:t>: Peut être très gourmand en temps et en ressources computationnelles, surtout avec de grandes grilles d'hyperparamètres.</a:t>
            </a:r>
          </a:p>
          <a:p>
            <a:pPr>
              <a:lnSpc>
                <a:spcPts val="3892"/>
              </a:lnSpc>
            </a:pP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57145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594671" y="608825"/>
            <a:ext cx="13098658" cy="849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>
              <a:lnSpc>
                <a:spcPts val="6099"/>
              </a:lnSpc>
            </a:pPr>
            <a:r>
              <a:rPr lang="en-US" sz="5648">
                <a:solidFill>
                  <a:srgbClr val="FFFFFF"/>
                </a:solidFill>
                <a:latin typeface="Boston Angel"/>
              </a:rPr>
              <a:t>Description des Hyperparamètres Utilisés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424492" y="2156852"/>
            <a:ext cx="17302861" cy="69014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>
              <a:lnSpc>
                <a:spcPts val="2857"/>
              </a:lnSpc>
            </a:pPr>
            <a:r>
              <a:rPr lang="en-US" sz="2041">
                <a:solidFill>
                  <a:srgbClr val="FFFFFF"/>
                </a:solidFill>
                <a:latin typeface="Canva Sans Bold"/>
              </a:rPr>
              <a:t>LightGBM</a:t>
            </a:r>
          </a:p>
          <a:p>
            <a:pPr marL="440684" indent="-220342" lvl="1">
              <a:lnSpc>
                <a:spcPts val="2857"/>
              </a:lnSpc>
              <a:buFont typeface="Arial"/>
              <a:buChar char="•"/>
            </a:pPr>
            <a:r>
              <a:rPr lang="en-US" sz="2041">
                <a:solidFill>
                  <a:srgbClr val="FFFFFF"/>
                </a:solidFill>
                <a:latin typeface="Canva Sans Bold"/>
              </a:rPr>
              <a:t>num_leaves : Détermine le nombre de feuilles dans chaque arbre. Affecte la complexité du modèle et peut influencer à la fois la performance et le risque de surajustement.</a:t>
            </a:r>
          </a:p>
          <a:p>
            <a:pPr marL="440684" indent="-220342" lvl="1">
              <a:lnSpc>
                <a:spcPts val="2857"/>
              </a:lnSpc>
              <a:buFont typeface="Arial"/>
              <a:buChar char="•"/>
            </a:pPr>
            <a:r>
              <a:rPr lang="en-US" sz="2041">
                <a:solidFill>
                  <a:srgbClr val="FFFFFF"/>
                </a:solidFill>
                <a:latin typeface="Canva Sans Bold"/>
              </a:rPr>
              <a:t>reg_alpha (L1 regularization) : Ajoute une régularisation sur les poids des feuilles. Utile pour prévenir le surajustement en encourageant la parcimonie.</a:t>
            </a:r>
          </a:p>
          <a:p>
            <a:pPr marL="440684" indent="-220342" lvl="1">
              <a:lnSpc>
                <a:spcPts val="2857"/>
              </a:lnSpc>
              <a:buFont typeface="Arial"/>
              <a:buChar char="•"/>
            </a:pPr>
            <a:r>
              <a:rPr lang="en-US" sz="2041">
                <a:solidFill>
                  <a:srgbClr val="FFFFFF"/>
                </a:solidFill>
                <a:latin typeface="Canva Sans Bold"/>
              </a:rPr>
              <a:t>min_data_in_leaf : Nombre minimal d'échantillons nécessaires dans une feuille. Aide à contrôler le surajustement en évitant que les arbres deviennent trop profonds.</a:t>
            </a:r>
          </a:p>
          <a:p>
            <a:pPr marL="440684" indent="-220342" lvl="1">
              <a:lnSpc>
                <a:spcPts val="2857"/>
              </a:lnSpc>
              <a:buFont typeface="Arial"/>
              <a:buChar char="•"/>
            </a:pPr>
            <a:r>
              <a:rPr lang="en-US" sz="2041">
                <a:solidFill>
                  <a:srgbClr val="FFFFFF"/>
                </a:solidFill>
                <a:latin typeface="Canva Sans Bold"/>
              </a:rPr>
              <a:t>lambda_l1 : Terme de régularisation L1 qui applique une pénalité sur le nombre absolu des poids, encourageant des modèles plus simples et moins susceptibles de surajuster.</a:t>
            </a:r>
          </a:p>
          <a:p>
            <a:pPr marL="440684" indent="-220342" lvl="1">
              <a:lnSpc>
                <a:spcPts val="2857"/>
              </a:lnSpc>
              <a:buFont typeface="Arial"/>
              <a:buChar char="•"/>
            </a:pPr>
            <a:r>
              <a:rPr lang="en-US" sz="2041">
                <a:solidFill>
                  <a:srgbClr val="FFFFFF"/>
                </a:solidFill>
                <a:latin typeface="Canva Sans Bold"/>
              </a:rPr>
              <a:t>lambda_l2 : Terme de régularisation L2 qui applique une pénalité sur la somme des carrés des poids, réduisant le surajustement en encourageant des poids plus petits.</a:t>
            </a:r>
          </a:p>
          <a:p>
            <a:pPr>
              <a:lnSpc>
                <a:spcPts val="3132"/>
              </a:lnSpc>
            </a:pPr>
            <a:r>
              <a:rPr lang="en-US" sz="2237">
                <a:solidFill>
                  <a:srgbClr val="FFFFFF"/>
                </a:solidFill>
                <a:latin typeface="Canva Sans Bold"/>
              </a:rPr>
              <a:t>Random Forest</a:t>
            </a:r>
          </a:p>
          <a:p>
            <a:pPr marL="440684" indent="-220342" lvl="1">
              <a:lnSpc>
                <a:spcPts val="2857"/>
              </a:lnSpc>
              <a:buFont typeface="Arial"/>
              <a:buChar char="•"/>
            </a:pPr>
            <a:r>
              <a:rPr lang="en-US" sz="2041">
                <a:solidFill>
                  <a:srgbClr val="FFFFFF"/>
                </a:solidFill>
                <a:latin typeface="Canva Sans Bold"/>
              </a:rPr>
              <a:t>n_estimators : Le nombre d'arbres dans la forêt. Plus il y a d'arbres, plus le modèle est robuste, mais le temps d'entraînement augmente.</a:t>
            </a:r>
          </a:p>
          <a:p>
            <a:pPr marL="440684" indent="-220342" lvl="1">
              <a:lnSpc>
                <a:spcPts val="2857"/>
              </a:lnSpc>
              <a:buFont typeface="Arial"/>
              <a:buChar char="•"/>
            </a:pPr>
            <a:r>
              <a:rPr lang="en-US" sz="2041">
                <a:solidFill>
                  <a:srgbClr val="FFFFFF"/>
                </a:solidFill>
                <a:latin typeface="Canva Sans Bold"/>
              </a:rPr>
              <a:t>max_depth : La profondeur maximale des arbres. Limiter la profondeur peut aider à prévenir le surajustement.</a:t>
            </a:r>
          </a:p>
          <a:p>
            <a:pPr marL="440684" indent="-220342" lvl="1">
              <a:lnSpc>
                <a:spcPts val="2857"/>
              </a:lnSpc>
              <a:buFont typeface="Arial"/>
              <a:buChar char="•"/>
            </a:pPr>
            <a:r>
              <a:rPr lang="en-US" sz="2041">
                <a:solidFill>
                  <a:srgbClr val="FFFFFF"/>
                </a:solidFill>
                <a:latin typeface="Canva Sans Bold"/>
              </a:rPr>
              <a:t>min_samples_split : Le nombre minimal d'échantillons requis pour diviser un nœud interne. Une valeur plus élevée peut réduire le risque de surajustement.</a:t>
            </a:r>
          </a:p>
          <a:p>
            <a:pPr>
              <a:lnSpc>
                <a:spcPts val="2857"/>
              </a:lnSpc>
            </a:pPr>
          </a:p>
          <a:p>
            <a:pPr>
              <a:lnSpc>
                <a:spcPts val="2857"/>
              </a:lnSpc>
            </a:pPr>
          </a:p>
        </p:txBody>
      </p:sp>
      <p:grpSp>
        <p:nvGrpSpPr>
          <p:cNvPr name="Group 4" id="4"/>
          <p:cNvGrpSpPr/>
          <p:nvPr/>
        </p:nvGrpSpPr>
        <p:grpSpPr>
          <a:xfrm rot="0">
            <a:off x="15805052" y="0"/>
            <a:ext cx="1243967" cy="2290461"/>
            <a:chOff x="0" y="0"/>
            <a:chExt cx="660400" cy="1215965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660400" cy="1215965"/>
            </a:xfrm>
            <a:custGeom>
              <a:avLst/>
              <a:gdLst/>
              <a:ahLst/>
              <a:cxnLst/>
              <a:rect r="r" b="b" t="t" l="l"/>
              <a:pathLst>
                <a:path h="1215965" w="660400">
                  <a:moveTo>
                    <a:pt x="220252" y="1196896"/>
                  </a:moveTo>
                  <a:cubicBezTo>
                    <a:pt x="254109" y="1208410"/>
                    <a:pt x="292600" y="1215965"/>
                    <a:pt x="330378" y="1215965"/>
                  </a:cubicBezTo>
                  <a:cubicBezTo>
                    <a:pt x="368157" y="1215965"/>
                    <a:pt x="404509" y="1209488"/>
                    <a:pt x="438009" y="1197974"/>
                  </a:cubicBezTo>
                  <a:cubicBezTo>
                    <a:pt x="438723" y="1197615"/>
                    <a:pt x="439435" y="1197615"/>
                    <a:pt x="440148" y="1197256"/>
                  </a:cubicBezTo>
                  <a:cubicBezTo>
                    <a:pt x="565955" y="1151200"/>
                    <a:pt x="658618" y="1029586"/>
                    <a:pt x="660400" y="878508"/>
                  </a:cubicBezTo>
                  <a:lnTo>
                    <a:pt x="660400" y="0"/>
                  </a:lnTo>
                  <a:lnTo>
                    <a:pt x="0" y="0"/>
                  </a:lnTo>
                  <a:lnTo>
                    <a:pt x="0" y="877856"/>
                  </a:lnTo>
                  <a:cubicBezTo>
                    <a:pt x="1782" y="1030305"/>
                    <a:pt x="93019" y="1151920"/>
                    <a:pt x="220252" y="1196896"/>
                  </a:cubicBezTo>
                  <a:close/>
                </a:path>
              </a:pathLst>
            </a:custGeom>
            <a:solidFill>
              <a:srgbClr val="8144A2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19050"/>
              <a:ext cx="660400" cy="11080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40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-10800000">
            <a:off x="17044033" y="750574"/>
            <a:ext cx="1243967" cy="1957330"/>
            <a:chOff x="0" y="0"/>
            <a:chExt cx="660400" cy="1039112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660400" cy="1039112"/>
            </a:xfrm>
            <a:custGeom>
              <a:avLst/>
              <a:gdLst/>
              <a:ahLst/>
              <a:cxnLst/>
              <a:rect r="r" b="b" t="t" l="l"/>
              <a:pathLst>
                <a:path h="1039112" w="660400">
                  <a:moveTo>
                    <a:pt x="220252" y="1020043"/>
                  </a:moveTo>
                  <a:cubicBezTo>
                    <a:pt x="254109" y="1031557"/>
                    <a:pt x="292600" y="1039112"/>
                    <a:pt x="330378" y="1039112"/>
                  </a:cubicBezTo>
                  <a:cubicBezTo>
                    <a:pt x="368157" y="1039112"/>
                    <a:pt x="404509" y="1032635"/>
                    <a:pt x="438009" y="1021121"/>
                  </a:cubicBezTo>
                  <a:cubicBezTo>
                    <a:pt x="438723" y="1020762"/>
                    <a:pt x="439435" y="1020762"/>
                    <a:pt x="440148" y="1020402"/>
                  </a:cubicBezTo>
                  <a:cubicBezTo>
                    <a:pt x="565955" y="974347"/>
                    <a:pt x="658618" y="852733"/>
                    <a:pt x="660400" y="705583"/>
                  </a:cubicBezTo>
                  <a:lnTo>
                    <a:pt x="660400" y="0"/>
                  </a:lnTo>
                  <a:lnTo>
                    <a:pt x="0" y="0"/>
                  </a:lnTo>
                  <a:lnTo>
                    <a:pt x="0" y="705059"/>
                  </a:lnTo>
                  <a:cubicBezTo>
                    <a:pt x="1782" y="853452"/>
                    <a:pt x="93019" y="975067"/>
                    <a:pt x="220252" y="1020043"/>
                  </a:cubicBezTo>
                  <a:close/>
                </a:path>
              </a:pathLst>
            </a:custGeom>
            <a:solidFill>
              <a:srgbClr val="652C84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19050"/>
              <a:ext cx="660400" cy="93116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40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7044033" y="0"/>
            <a:ext cx="1243967" cy="750574"/>
            <a:chOff x="0" y="0"/>
            <a:chExt cx="660400" cy="398466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660400" cy="398466"/>
            </a:xfrm>
            <a:custGeom>
              <a:avLst/>
              <a:gdLst/>
              <a:ahLst/>
              <a:cxnLst/>
              <a:rect r="r" b="b" t="t" l="l"/>
              <a:pathLst>
                <a:path h="398466" w="660400">
                  <a:moveTo>
                    <a:pt x="220252" y="379397"/>
                  </a:moveTo>
                  <a:cubicBezTo>
                    <a:pt x="254109" y="390911"/>
                    <a:pt x="292600" y="398466"/>
                    <a:pt x="330378" y="398466"/>
                  </a:cubicBezTo>
                  <a:cubicBezTo>
                    <a:pt x="368157" y="398466"/>
                    <a:pt x="404509" y="391989"/>
                    <a:pt x="438009" y="380475"/>
                  </a:cubicBezTo>
                  <a:cubicBezTo>
                    <a:pt x="438723" y="380116"/>
                    <a:pt x="439435" y="380116"/>
                    <a:pt x="440148" y="379757"/>
                  </a:cubicBezTo>
                  <a:cubicBezTo>
                    <a:pt x="565955" y="333701"/>
                    <a:pt x="658618" y="212087"/>
                    <a:pt x="660400" y="79168"/>
                  </a:cubicBezTo>
                  <a:lnTo>
                    <a:pt x="660400" y="0"/>
                  </a:lnTo>
                  <a:lnTo>
                    <a:pt x="0" y="0"/>
                  </a:lnTo>
                  <a:lnTo>
                    <a:pt x="0" y="79109"/>
                  </a:lnTo>
                  <a:cubicBezTo>
                    <a:pt x="1782" y="212806"/>
                    <a:pt x="93019" y="334421"/>
                    <a:pt x="220252" y="379397"/>
                  </a:cubicBezTo>
                  <a:close/>
                </a:path>
              </a:pathLst>
            </a:custGeom>
            <a:solidFill>
              <a:srgbClr val="F15A29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19050"/>
              <a:ext cx="660400" cy="29051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40"/>
                </a:lnSpc>
              </a:pPr>
            </a:p>
          </p:txBody>
        </p:sp>
      </p:grpSp>
      <p:sp>
        <p:nvSpPr>
          <p:cNvPr name="Freeform 13" id="13"/>
          <p:cNvSpPr/>
          <p:nvPr/>
        </p:nvSpPr>
        <p:spPr>
          <a:xfrm flipH="false" flipV="false" rot="0">
            <a:off x="16218436" y="2290461"/>
            <a:ext cx="417198" cy="417198"/>
          </a:xfrm>
          <a:custGeom>
            <a:avLst/>
            <a:gdLst/>
            <a:ahLst/>
            <a:cxnLst/>
            <a:rect r="r" b="b" t="t" l="l"/>
            <a:pathLst>
              <a:path h="417198" w="417198">
                <a:moveTo>
                  <a:pt x="0" y="0"/>
                </a:moveTo>
                <a:lnTo>
                  <a:pt x="417198" y="0"/>
                </a:lnTo>
                <a:lnTo>
                  <a:pt x="417198" y="417198"/>
                </a:lnTo>
                <a:lnTo>
                  <a:pt x="0" y="41719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57145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594671" y="608825"/>
            <a:ext cx="13098658" cy="849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>
              <a:lnSpc>
                <a:spcPts val="6099"/>
              </a:lnSpc>
            </a:pPr>
            <a:r>
              <a:rPr lang="en-US" sz="5648">
                <a:solidFill>
                  <a:srgbClr val="FFFFFF"/>
                </a:solidFill>
                <a:latin typeface="Boston Angel"/>
              </a:rPr>
              <a:t>Description des Hyperparamètres Utilisés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247870" y="3979650"/>
            <a:ext cx="17792259" cy="54238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>
              <a:lnSpc>
                <a:spcPts val="2922"/>
              </a:lnSpc>
            </a:pPr>
            <a:r>
              <a:rPr lang="en-US" sz="2087">
                <a:solidFill>
                  <a:srgbClr val="FFFFFF"/>
                </a:solidFill>
                <a:latin typeface="Canva Sans Bold"/>
              </a:rPr>
              <a:t>Decisio</a:t>
            </a:r>
            <a:r>
              <a:rPr lang="en-US" sz="2087">
                <a:solidFill>
                  <a:srgbClr val="FFFFFF"/>
                </a:solidFill>
                <a:latin typeface="Canva Sans Bold"/>
              </a:rPr>
              <a:t>n Tree</a:t>
            </a:r>
          </a:p>
          <a:p>
            <a:pPr marL="450705" indent="-225353" lvl="1">
              <a:lnSpc>
                <a:spcPts val="2922"/>
              </a:lnSpc>
              <a:buFont typeface="Arial"/>
              <a:buChar char="•"/>
            </a:pPr>
            <a:r>
              <a:rPr lang="en-US" sz="2087">
                <a:solidFill>
                  <a:srgbClr val="FFFFFF"/>
                </a:solidFill>
                <a:latin typeface="Canva Sans Bold"/>
              </a:rPr>
              <a:t>max_depth : La profondeur maximale de l'arbre. Une profondeur limitée peut aider à prévenir le surajustement en réduisant la complexité du modèle. Un arbre trop profond peut capturer trop de bruit dans les données d'entraînement.</a:t>
            </a:r>
          </a:p>
          <a:p>
            <a:pPr marL="450705" indent="-225353" lvl="1">
              <a:lnSpc>
                <a:spcPts val="2922"/>
              </a:lnSpc>
              <a:buFont typeface="Arial"/>
              <a:buChar char="•"/>
            </a:pPr>
            <a:r>
              <a:rPr lang="en-US" sz="2087">
                <a:solidFill>
                  <a:srgbClr val="FFFFFF"/>
                </a:solidFill>
                <a:latin typeface="Canva Sans Bold"/>
              </a:rPr>
              <a:t>min</a:t>
            </a:r>
            <a:r>
              <a:rPr lang="en-US" sz="2087">
                <a:solidFill>
                  <a:srgbClr val="FFFFFF"/>
                </a:solidFill>
                <a:latin typeface="Canva Sans Bold"/>
              </a:rPr>
              <a:t>_samples_split : Le nombre minimal d'échantillons requis pour diviser un nœud. Des valeurs plus élevées empêchent la création de nœuds avec un petit nombre d'échantillons, contribuant à la réduction du surajustement.</a:t>
            </a:r>
          </a:p>
          <a:p>
            <a:pPr marL="450705" indent="-225353" lvl="1">
              <a:lnSpc>
                <a:spcPts val="2922"/>
              </a:lnSpc>
              <a:buFont typeface="Arial"/>
              <a:buChar char="•"/>
            </a:pPr>
            <a:r>
              <a:rPr lang="en-US" sz="2087">
                <a:solidFill>
                  <a:srgbClr val="FFFFFF"/>
                </a:solidFill>
                <a:latin typeface="Canva Sans Bold"/>
              </a:rPr>
              <a:t>min_samples_leaf : Le nombre minimal d'échantillons requis pour être à un nœud feuille. Augmenter ce nombre peut lisser le modèle, surtout dans les cas de régression.</a:t>
            </a:r>
          </a:p>
          <a:p>
            <a:pPr marL="429116" indent="-214558" lvl="1">
              <a:lnSpc>
                <a:spcPts val="2782"/>
              </a:lnSpc>
              <a:buFont typeface="Arial"/>
              <a:buChar char="•"/>
            </a:pPr>
            <a:r>
              <a:rPr lang="en-US" sz="1987">
                <a:solidFill>
                  <a:srgbClr val="FFFFFF"/>
                </a:solidFill>
                <a:latin typeface="Canva Sans Bold"/>
              </a:rPr>
              <a:t>c</a:t>
            </a:r>
            <a:r>
              <a:rPr lang="en-US" sz="1987">
                <a:solidFill>
                  <a:srgbClr val="FFFFFF"/>
                </a:solidFill>
                <a:latin typeface="Canva Sans Bold"/>
              </a:rPr>
              <a:t>riterion : La fonction pour mesurer la qualité d'une division. gini pour l'impureté de Gini et entropy pour le gain d'information. Choisir entre ces critères peut affecter la performance du modèle et s</a:t>
            </a:r>
            <a:r>
              <a:rPr lang="en-US" sz="1987">
                <a:solidFill>
                  <a:srgbClr val="FFFFFF"/>
                </a:solidFill>
                <a:latin typeface="Canva Sans Bold"/>
              </a:rPr>
              <a:t>a tendance au surajustement</a:t>
            </a:r>
          </a:p>
          <a:p>
            <a:pPr marL="450705" indent="-225353" lvl="1">
              <a:lnSpc>
                <a:spcPts val="2922"/>
              </a:lnSpc>
              <a:buFont typeface="Arial"/>
              <a:buChar char="•"/>
            </a:pPr>
          </a:p>
          <a:p>
            <a:pPr>
              <a:lnSpc>
                <a:spcPts val="2922"/>
              </a:lnSpc>
            </a:pPr>
            <a:r>
              <a:rPr lang="en-US" sz="2087">
                <a:solidFill>
                  <a:srgbClr val="FFFFFF"/>
                </a:solidFill>
                <a:latin typeface="Canva Sans Bold"/>
              </a:rPr>
              <a:t>KNN</a:t>
            </a:r>
          </a:p>
          <a:p>
            <a:pPr marL="450705" indent="-225353" lvl="1">
              <a:lnSpc>
                <a:spcPts val="2922"/>
              </a:lnSpc>
              <a:buFont typeface="Arial"/>
              <a:buChar char="•"/>
            </a:pPr>
            <a:r>
              <a:rPr lang="en-US" sz="2087">
                <a:solidFill>
                  <a:srgbClr val="FFFFFF"/>
                </a:solidFill>
                <a:latin typeface="Canva Sans Bold"/>
              </a:rPr>
              <a:t>n_neighbors : Nombre de voisins à considérer pour la prédiction. Un nombre plus élevé généralise davantage, tandis qu'un nombre plus faible peut capter plus de détails, au risque de surajuster.</a:t>
            </a:r>
          </a:p>
          <a:p>
            <a:pPr marL="450705" indent="-225353" lvl="1">
              <a:lnSpc>
                <a:spcPts val="2922"/>
              </a:lnSpc>
              <a:buFont typeface="Arial"/>
              <a:buChar char="•"/>
            </a:pPr>
            <a:r>
              <a:rPr lang="en-US" sz="2087">
                <a:solidFill>
                  <a:srgbClr val="FFFFFF"/>
                </a:solidFill>
                <a:latin typeface="Canva Sans Bold"/>
              </a:rPr>
              <a:t>w</a:t>
            </a:r>
            <a:r>
              <a:rPr lang="en-US" sz="2087">
                <a:solidFill>
                  <a:srgbClr val="FFFFFF"/>
                </a:solidFill>
                <a:latin typeface="Canva Sans Bold"/>
              </a:rPr>
              <a:t>eights : Détermine si tous les voisins contribuent également (uniform) ou si les voisins plus proches ont plus de poids (distance).</a:t>
            </a:r>
          </a:p>
          <a:p>
            <a:pPr>
              <a:lnSpc>
                <a:spcPts val="2922"/>
              </a:lnSpc>
            </a:pPr>
          </a:p>
        </p:txBody>
      </p:sp>
      <p:grpSp>
        <p:nvGrpSpPr>
          <p:cNvPr name="Group 4" id="4"/>
          <p:cNvGrpSpPr/>
          <p:nvPr/>
        </p:nvGrpSpPr>
        <p:grpSpPr>
          <a:xfrm rot="0">
            <a:off x="14417816" y="0"/>
            <a:ext cx="1801898" cy="3317755"/>
            <a:chOff x="0" y="0"/>
            <a:chExt cx="660400" cy="1215965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660400" cy="1215965"/>
            </a:xfrm>
            <a:custGeom>
              <a:avLst/>
              <a:gdLst/>
              <a:ahLst/>
              <a:cxnLst/>
              <a:rect r="r" b="b" t="t" l="l"/>
              <a:pathLst>
                <a:path h="1215965" w="660400">
                  <a:moveTo>
                    <a:pt x="220252" y="1196896"/>
                  </a:moveTo>
                  <a:cubicBezTo>
                    <a:pt x="254109" y="1208410"/>
                    <a:pt x="292600" y="1215965"/>
                    <a:pt x="330378" y="1215965"/>
                  </a:cubicBezTo>
                  <a:cubicBezTo>
                    <a:pt x="368157" y="1215965"/>
                    <a:pt x="404509" y="1209488"/>
                    <a:pt x="438009" y="1197974"/>
                  </a:cubicBezTo>
                  <a:cubicBezTo>
                    <a:pt x="438723" y="1197615"/>
                    <a:pt x="439435" y="1197615"/>
                    <a:pt x="440148" y="1197256"/>
                  </a:cubicBezTo>
                  <a:cubicBezTo>
                    <a:pt x="565955" y="1151200"/>
                    <a:pt x="658618" y="1029586"/>
                    <a:pt x="660400" y="878508"/>
                  </a:cubicBezTo>
                  <a:lnTo>
                    <a:pt x="660400" y="0"/>
                  </a:lnTo>
                  <a:lnTo>
                    <a:pt x="0" y="0"/>
                  </a:lnTo>
                  <a:lnTo>
                    <a:pt x="0" y="877856"/>
                  </a:lnTo>
                  <a:cubicBezTo>
                    <a:pt x="1782" y="1030305"/>
                    <a:pt x="93019" y="1151920"/>
                    <a:pt x="220252" y="1196896"/>
                  </a:cubicBezTo>
                  <a:close/>
                </a:path>
              </a:pathLst>
            </a:custGeom>
            <a:solidFill>
              <a:srgbClr val="8144A2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19050"/>
              <a:ext cx="660400" cy="11080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40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-10800000">
            <a:off x="16212493" y="1087213"/>
            <a:ext cx="1801898" cy="2835212"/>
            <a:chOff x="0" y="0"/>
            <a:chExt cx="660400" cy="1039112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660400" cy="1039112"/>
            </a:xfrm>
            <a:custGeom>
              <a:avLst/>
              <a:gdLst/>
              <a:ahLst/>
              <a:cxnLst/>
              <a:rect r="r" b="b" t="t" l="l"/>
              <a:pathLst>
                <a:path h="1039112" w="660400">
                  <a:moveTo>
                    <a:pt x="220252" y="1020043"/>
                  </a:moveTo>
                  <a:cubicBezTo>
                    <a:pt x="254109" y="1031557"/>
                    <a:pt x="292600" y="1039112"/>
                    <a:pt x="330378" y="1039112"/>
                  </a:cubicBezTo>
                  <a:cubicBezTo>
                    <a:pt x="368157" y="1039112"/>
                    <a:pt x="404509" y="1032635"/>
                    <a:pt x="438009" y="1021121"/>
                  </a:cubicBezTo>
                  <a:cubicBezTo>
                    <a:pt x="438723" y="1020762"/>
                    <a:pt x="439435" y="1020762"/>
                    <a:pt x="440148" y="1020402"/>
                  </a:cubicBezTo>
                  <a:cubicBezTo>
                    <a:pt x="565955" y="974347"/>
                    <a:pt x="658618" y="852733"/>
                    <a:pt x="660400" y="705583"/>
                  </a:cubicBezTo>
                  <a:lnTo>
                    <a:pt x="660400" y="0"/>
                  </a:lnTo>
                  <a:lnTo>
                    <a:pt x="0" y="0"/>
                  </a:lnTo>
                  <a:lnTo>
                    <a:pt x="0" y="705059"/>
                  </a:lnTo>
                  <a:cubicBezTo>
                    <a:pt x="1782" y="853452"/>
                    <a:pt x="93019" y="975067"/>
                    <a:pt x="220252" y="1020043"/>
                  </a:cubicBezTo>
                  <a:close/>
                </a:path>
              </a:pathLst>
            </a:custGeom>
            <a:solidFill>
              <a:srgbClr val="652C84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19050"/>
              <a:ext cx="660400" cy="93116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40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6212493" y="0"/>
            <a:ext cx="1801898" cy="1087213"/>
            <a:chOff x="0" y="0"/>
            <a:chExt cx="660400" cy="398466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660400" cy="398466"/>
            </a:xfrm>
            <a:custGeom>
              <a:avLst/>
              <a:gdLst/>
              <a:ahLst/>
              <a:cxnLst/>
              <a:rect r="r" b="b" t="t" l="l"/>
              <a:pathLst>
                <a:path h="398466" w="660400">
                  <a:moveTo>
                    <a:pt x="220252" y="379397"/>
                  </a:moveTo>
                  <a:cubicBezTo>
                    <a:pt x="254109" y="390911"/>
                    <a:pt x="292600" y="398466"/>
                    <a:pt x="330378" y="398466"/>
                  </a:cubicBezTo>
                  <a:cubicBezTo>
                    <a:pt x="368157" y="398466"/>
                    <a:pt x="404509" y="391989"/>
                    <a:pt x="438009" y="380475"/>
                  </a:cubicBezTo>
                  <a:cubicBezTo>
                    <a:pt x="438723" y="380116"/>
                    <a:pt x="439435" y="380116"/>
                    <a:pt x="440148" y="379757"/>
                  </a:cubicBezTo>
                  <a:cubicBezTo>
                    <a:pt x="565955" y="333701"/>
                    <a:pt x="658618" y="212087"/>
                    <a:pt x="660400" y="79168"/>
                  </a:cubicBezTo>
                  <a:lnTo>
                    <a:pt x="660400" y="0"/>
                  </a:lnTo>
                  <a:lnTo>
                    <a:pt x="0" y="0"/>
                  </a:lnTo>
                  <a:lnTo>
                    <a:pt x="0" y="79109"/>
                  </a:lnTo>
                  <a:cubicBezTo>
                    <a:pt x="1782" y="212806"/>
                    <a:pt x="93019" y="334421"/>
                    <a:pt x="220252" y="379397"/>
                  </a:cubicBezTo>
                  <a:close/>
                </a:path>
              </a:pathLst>
            </a:custGeom>
            <a:solidFill>
              <a:srgbClr val="F15A29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19050"/>
              <a:ext cx="660400" cy="29051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40"/>
                </a:lnSpc>
              </a:pPr>
            </a:p>
          </p:txBody>
        </p:sp>
      </p:grpSp>
      <p:sp>
        <p:nvSpPr>
          <p:cNvPr name="Freeform 13" id="13"/>
          <p:cNvSpPr/>
          <p:nvPr/>
        </p:nvSpPr>
        <p:spPr>
          <a:xfrm flipH="false" flipV="false" rot="0">
            <a:off x="15016607" y="3317755"/>
            <a:ext cx="604316" cy="604316"/>
          </a:xfrm>
          <a:custGeom>
            <a:avLst/>
            <a:gdLst/>
            <a:ahLst/>
            <a:cxnLst/>
            <a:rect r="r" b="b" t="t" l="l"/>
            <a:pathLst>
              <a:path h="604316" w="604316">
                <a:moveTo>
                  <a:pt x="0" y="0"/>
                </a:moveTo>
                <a:lnTo>
                  <a:pt x="604316" y="0"/>
                </a:lnTo>
                <a:lnTo>
                  <a:pt x="604316" y="604316"/>
                </a:lnTo>
                <a:lnTo>
                  <a:pt x="0" y="60431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57145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775074" y="4227484"/>
            <a:ext cx="3122470" cy="1561235"/>
          </a:xfrm>
          <a:custGeom>
            <a:avLst/>
            <a:gdLst/>
            <a:ahLst/>
            <a:cxnLst/>
            <a:rect r="r" b="b" t="t" l="l"/>
            <a:pathLst>
              <a:path h="1561235" w="3122470">
                <a:moveTo>
                  <a:pt x="0" y="0"/>
                </a:moveTo>
                <a:lnTo>
                  <a:pt x="3122470" y="0"/>
                </a:lnTo>
                <a:lnTo>
                  <a:pt x="3122470" y="1561235"/>
                </a:lnTo>
                <a:lnTo>
                  <a:pt x="0" y="156123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9521813" y="4227484"/>
            <a:ext cx="3122470" cy="1561235"/>
          </a:xfrm>
          <a:custGeom>
            <a:avLst/>
            <a:gdLst/>
            <a:ahLst/>
            <a:cxnLst/>
            <a:rect r="r" b="b" t="t" l="l"/>
            <a:pathLst>
              <a:path h="1561235" w="3122470">
                <a:moveTo>
                  <a:pt x="0" y="0"/>
                </a:moveTo>
                <a:lnTo>
                  <a:pt x="3122469" y="0"/>
                </a:lnTo>
                <a:lnTo>
                  <a:pt x="3122469" y="1561235"/>
                </a:lnTo>
                <a:lnTo>
                  <a:pt x="0" y="156123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10800000">
            <a:off x="5646868" y="2666249"/>
            <a:ext cx="3122470" cy="1561235"/>
          </a:xfrm>
          <a:custGeom>
            <a:avLst/>
            <a:gdLst/>
            <a:ahLst/>
            <a:cxnLst/>
            <a:rect r="r" b="b" t="t" l="l"/>
            <a:pathLst>
              <a:path h="1561235" w="3122470">
                <a:moveTo>
                  <a:pt x="0" y="0"/>
                </a:moveTo>
                <a:lnTo>
                  <a:pt x="3122470" y="0"/>
                </a:lnTo>
                <a:lnTo>
                  <a:pt x="3122470" y="1561235"/>
                </a:lnTo>
                <a:lnTo>
                  <a:pt x="0" y="156123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-10800000">
            <a:off x="13393607" y="2666249"/>
            <a:ext cx="3122470" cy="1561235"/>
          </a:xfrm>
          <a:custGeom>
            <a:avLst/>
            <a:gdLst/>
            <a:ahLst/>
            <a:cxnLst/>
            <a:rect r="r" b="b" t="t" l="l"/>
            <a:pathLst>
              <a:path h="1561235" w="3122470">
                <a:moveTo>
                  <a:pt x="0" y="0"/>
                </a:moveTo>
                <a:lnTo>
                  <a:pt x="3122470" y="0"/>
                </a:lnTo>
                <a:lnTo>
                  <a:pt x="3122470" y="1561235"/>
                </a:lnTo>
                <a:lnTo>
                  <a:pt x="0" y="156123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2033304" y="2924479"/>
            <a:ext cx="2606010" cy="2606010"/>
          </a:xfrm>
          <a:custGeom>
            <a:avLst/>
            <a:gdLst/>
            <a:ahLst/>
            <a:cxnLst/>
            <a:rect r="r" b="b" t="t" l="l"/>
            <a:pathLst>
              <a:path h="2606010" w="2606010">
                <a:moveTo>
                  <a:pt x="0" y="0"/>
                </a:moveTo>
                <a:lnTo>
                  <a:pt x="2606010" y="0"/>
                </a:lnTo>
                <a:lnTo>
                  <a:pt x="2606010" y="2606010"/>
                </a:lnTo>
                <a:lnTo>
                  <a:pt x="0" y="260601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5895573" y="2924479"/>
            <a:ext cx="2864240" cy="2864240"/>
          </a:xfrm>
          <a:custGeom>
            <a:avLst/>
            <a:gdLst/>
            <a:ahLst/>
            <a:cxnLst/>
            <a:rect r="r" b="b" t="t" l="l"/>
            <a:pathLst>
              <a:path h="2864240" w="2864240">
                <a:moveTo>
                  <a:pt x="0" y="0"/>
                </a:moveTo>
                <a:lnTo>
                  <a:pt x="2864240" y="0"/>
                </a:lnTo>
                <a:lnTo>
                  <a:pt x="2864240" y="2864240"/>
                </a:lnTo>
                <a:lnTo>
                  <a:pt x="0" y="286424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9776892" y="2924479"/>
            <a:ext cx="2606010" cy="2606010"/>
          </a:xfrm>
          <a:custGeom>
            <a:avLst/>
            <a:gdLst/>
            <a:ahLst/>
            <a:cxnLst/>
            <a:rect r="r" b="b" t="t" l="l"/>
            <a:pathLst>
              <a:path h="2606010" w="2606010">
                <a:moveTo>
                  <a:pt x="0" y="0"/>
                </a:moveTo>
                <a:lnTo>
                  <a:pt x="2606010" y="0"/>
                </a:lnTo>
                <a:lnTo>
                  <a:pt x="2606010" y="2606010"/>
                </a:lnTo>
                <a:lnTo>
                  <a:pt x="0" y="260601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3648686" y="2924479"/>
            <a:ext cx="2606010" cy="2606010"/>
          </a:xfrm>
          <a:custGeom>
            <a:avLst/>
            <a:gdLst/>
            <a:ahLst/>
            <a:cxnLst/>
            <a:rect r="r" b="b" t="t" l="l"/>
            <a:pathLst>
              <a:path h="2606010" w="2606010">
                <a:moveTo>
                  <a:pt x="0" y="0"/>
                </a:moveTo>
                <a:lnTo>
                  <a:pt x="2606010" y="0"/>
                </a:lnTo>
                <a:lnTo>
                  <a:pt x="2606010" y="2606010"/>
                </a:lnTo>
                <a:lnTo>
                  <a:pt x="0" y="260601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792442" y="1028700"/>
            <a:ext cx="11054191" cy="8362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>
              <a:lnSpc>
                <a:spcPts val="5940"/>
              </a:lnSpc>
            </a:pPr>
            <a:r>
              <a:rPr lang="en-US" sz="5500">
                <a:solidFill>
                  <a:srgbClr val="FFFFFF"/>
                </a:solidFill>
                <a:latin typeface="Boston Angel"/>
              </a:rPr>
              <a:t>Critères d’évaluation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775074" y="3702741"/>
            <a:ext cx="2844943" cy="1298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sz="2499">
                <a:solidFill>
                  <a:srgbClr val="FFFFFF"/>
                </a:solidFill>
                <a:latin typeface="Canva Sans"/>
              </a:rPr>
              <a:t> Comparaison avant et après l'optimisation.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5760183" y="3709526"/>
            <a:ext cx="3009155" cy="1298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sz="2499">
                <a:solidFill>
                  <a:srgbClr val="FFFFFF"/>
                </a:solidFill>
                <a:latin typeface="Canva Sans"/>
              </a:rPr>
              <a:t>Précision, Score F1, et temps d'entraînement.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9778988" y="3693216"/>
            <a:ext cx="2365789" cy="10113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09"/>
              </a:lnSpc>
            </a:pPr>
            <a:r>
              <a:rPr lang="en-US" sz="2935">
                <a:solidFill>
                  <a:srgbClr val="FFFFFF"/>
                </a:solidFill>
                <a:latin typeface="Canva Sans"/>
              </a:rPr>
              <a:t>Matrice de confusion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3727590" y="3773459"/>
            <a:ext cx="2448202" cy="860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sz="2499">
                <a:solidFill>
                  <a:srgbClr val="FFFFFF"/>
                </a:solidFill>
                <a:latin typeface="Canva Sans"/>
              </a:rPr>
              <a:t>Temps d’entrainement</a:t>
            </a:r>
          </a:p>
        </p:txBody>
      </p:sp>
      <p:sp>
        <p:nvSpPr>
          <p:cNvPr name="AutoShape 15" id="15"/>
          <p:cNvSpPr/>
          <p:nvPr/>
        </p:nvSpPr>
        <p:spPr>
          <a:xfrm flipV="true">
            <a:off x="3315705" y="5143500"/>
            <a:ext cx="0" cy="1971920"/>
          </a:xfrm>
          <a:prstGeom prst="line">
            <a:avLst/>
          </a:prstGeom>
          <a:ln cap="flat" w="47625">
            <a:solidFill>
              <a:srgbClr val="F15A29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6" id="16"/>
          <p:cNvSpPr/>
          <p:nvPr/>
        </p:nvSpPr>
        <p:spPr>
          <a:xfrm flipV="true">
            <a:off x="7231915" y="5008101"/>
            <a:ext cx="0" cy="1971920"/>
          </a:xfrm>
          <a:prstGeom prst="line">
            <a:avLst/>
          </a:prstGeom>
          <a:ln cap="flat" w="47625">
            <a:solidFill>
              <a:srgbClr val="F15A29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7" id="17"/>
          <p:cNvSpPr/>
          <p:nvPr/>
        </p:nvSpPr>
        <p:spPr>
          <a:xfrm flipV="true">
            <a:off x="11054531" y="5143500"/>
            <a:ext cx="0" cy="1971920"/>
          </a:xfrm>
          <a:prstGeom prst="line">
            <a:avLst/>
          </a:prstGeom>
          <a:ln cap="flat" w="47625">
            <a:solidFill>
              <a:srgbClr val="F15A29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8" id="18"/>
          <p:cNvSpPr/>
          <p:nvPr/>
        </p:nvSpPr>
        <p:spPr>
          <a:xfrm flipV="true">
            <a:off x="14978654" y="5008101"/>
            <a:ext cx="0" cy="1971920"/>
          </a:xfrm>
          <a:prstGeom prst="line">
            <a:avLst/>
          </a:prstGeom>
          <a:ln cap="flat" w="47625">
            <a:solidFill>
              <a:srgbClr val="F15A29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57145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577325" y="303586"/>
            <a:ext cx="13133350" cy="9679827"/>
          </a:xfrm>
          <a:custGeom>
            <a:avLst/>
            <a:gdLst/>
            <a:ahLst/>
            <a:cxnLst/>
            <a:rect r="r" b="b" t="t" l="l"/>
            <a:pathLst>
              <a:path h="9679827" w="13133350">
                <a:moveTo>
                  <a:pt x="0" y="0"/>
                </a:moveTo>
                <a:lnTo>
                  <a:pt x="13133350" y="0"/>
                </a:lnTo>
                <a:lnTo>
                  <a:pt x="13133350" y="9679828"/>
                </a:lnTo>
                <a:lnTo>
                  <a:pt x="0" y="967982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0" y="2729909"/>
            <a:ext cx="6423122" cy="8362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>
              <a:lnSpc>
                <a:spcPts val="5940"/>
              </a:lnSpc>
            </a:pPr>
            <a:r>
              <a:rPr lang="en-US" sz="5500" u="sng">
                <a:solidFill>
                  <a:srgbClr val="FFFFFF"/>
                </a:solidFill>
                <a:latin typeface="Boston Angel"/>
              </a:rPr>
              <a:t>Résultats: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57145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642166" y="761253"/>
            <a:ext cx="13360936" cy="8933227"/>
          </a:xfrm>
          <a:custGeom>
            <a:avLst/>
            <a:gdLst/>
            <a:ahLst/>
            <a:cxnLst/>
            <a:rect r="r" b="b" t="t" l="l"/>
            <a:pathLst>
              <a:path h="8933227" w="13360936">
                <a:moveTo>
                  <a:pt x="0" y="0"/>
                </a:moveTo>
                <a:lnTo>
                  <a:pt x="13360936" y="0"/>
                </a:lnTo>
                <a:lnTo>
                  <a:pt x="13360936" y="8933227"/>
                </a:lnTo>
                <a:lnTo>
                  <a:pt x="0" y="893322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2347" r="-132" b="-2347"/>
            </a:stretch>
          </a:blipFill>
        </p:spPr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57145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044721" y="0"/>
            <a:ext cx="12755401" cy="15887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>
              <a:lnSpc>
                <a:spcPts val="5940"/>
              </a:lnSpc>
            </a:pPr>
            <a:r>
              <a:rPr lang="en-US" sz="5500">
                <a:solidFill>
                  <a:srgbClr val="FFFFFF"/>
                </a:solidFill>
                <a:latin typeface="Boston Angel"/>
              </a:rPr>
              <a:t>Implémentation du Projet et Technologies</a:t>
            </a:r>
          </a:p>
          <a:p>
            <a:pPr>
              <a:lnSpc>
                <a:spcPts val="5940"/>
              </a:lnSpc>
            </a:pPr>
          </a:p>
        </p:txBody>
      </p:sp>
      <p:sp>
        <p:nvSpPr>
          <p:cNvPr name="TextBox 3" id="3"/>
          <p:cNvSpPr txBox="true"/>
          <p:nvPr/>
        </p:nvSpPr>
        <p:spPr>
          <a:xfrm rot="0">
            <a:off x="693337" y="990600"/>
            <a:ext cx="16901326" cy="86847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>
              <a:lnSpc>
                <a:spcPts val="3040"/>
              </a:lnSpc>
            </a:pPr>
            <a:r>
              <a:rPr lang="en-US" sz="2171">
                <a:solidFill>
                  <a:srgbClr val="FFFFFF"/>
                </a:solidFill>
                <a:latin typeface="Canva Sans Bold"/>
              </a:rPr>
              <a:t>Architecture du Système</a:t>
            </a:r>
          </a:p>
          <a:p>
            <a:pPr marL="537795" indent="-268898" lvl="1">
              <a:lnSpc>
                <a:spcPts val="3487"/>
              </a:lnSpc>
              <a:buFont typeface="Arial"/>
              <a:buChar char="•"/>
            </a:pPr>
            <a:r>
              <a:rPr lang="en-US" sz="2490">
                <a:solidFill>
                  <a:srgbClr val="FFFFFF"/>
                </a:solidFill>
                <a:latin typeface="Canva Sans Bold"/>
              </a:rPr>
              <a:t>Frontend : Interface utilisateur intuitive pour le téléchargement d'exécutables et l'affichage des résultats de prédiction.</a:t>
            </a:r>
          </a:p>
          <a:p>
            <a:pPr marL="537795" indent="-268898" lvl="1">
              <a:lnSpc>
                <a:spcPts val="3487"/>
              </a:lnSpc>
              <a:buFont typeface="Arial"/>
              <a:buChar char="•"/>
            </a:pPr>
            <a:r>
              <a:rPr lang="en-US" sz="2490">
                <a:solidFill>
                  <a:srgbClr val="FFFFFF"/>
                </a:solidFill>
                <a:latin typeface="Canva Sans Bold"/>
              </a:rPr>
              <a:t>Backend : Serveur Django gérant les requêtes, l'extraction des caractéristiques, et l'interaction avec le modèle de Machine Learning.</a:t>
            </a:r>
          </a:p>
          <a:p>
            <a:pPr>
              <a:lnSpc>
                <a:spcPts val="3487"/>
              </a:lnSpc>
            </a:pPr>
            <a:r>
              <a:rPr lang="en-US" sz="2490">
                <a:solidFill>
                  <a:srgbClr val="FFFFFF"/>
                </a:solidFill>
                <a:latin typeface="Canva Sans Bold"/>
              </a:rPr>
              <a:t>Flux de Données</a:t>
            </a:r>
          </a:p>
          <a:p>
            <a:pPr marL="537795" indent="-268898" lvl="1">
              <a:lnSpc>
                <a:spcPts val="3487"/>
              </a:lnSpc>
              <a:buFont typeface="Arial"/>
              <a:buChar char="•"/>
            </a:pPr>
            <a:r>
              <a:rPr lang="en-US" sz="2490">
                <a:solidFill>
                  <a:srgbClr val="FFFFFF"/>
                </a:solidFill>
                <a:latin typeface="Canva Sans Bold"/>
              </a:rPr>
              <a:t>Téléchargement de l'Exécutable : L'utilisateur charge un fichier exécutable via l'interface web.</a:t>
            </a:r>
          </a:p>
          <a:p>
            <a:pPr marL="537795" indent="-268898" lvl="1">
              <a:lnSpc>
                <a:spcPts val="3487"/>
              </a:lnSpc>
              <a:buFont typeface="Arial"/>
              <a:buChar char="•"/>
            </a:pPr>
            <a:r>
              <a:rPr lang="en-US" sz="2490">
                <a:solidFill>
                  <a:srgbClr val="FFFFFF"/>
                </a:solidFill>
                <a:latin typeface="Canva Sans Bold"/>
              </a:rPr>
              <a:t>Extraction des Caractéristiques : Le backend extrait automatiquement les caractéristiques nécessaires du fichier exécutable.</a:t>
            </a:r>
          </a:p>
          <a:p>
            <a:pPr marL="537795" indent="-268898" lvl="1">
              <a:lnSpc>
                <a:spcPts val="3487"/>
              </a:lnSpc>
              <a:buFont typeface="Arial"/>
              <a:buChar char="•"/>
            </a:pPr>
            <a:r>
              <a:rPr lang="en-US" sz="2490">
                <a:solidFill>
                  <a:srgbClr val="FFFFFF"/>
                </a:solidFill>
                <a:latin typeface="Canva Sans Bold"/>
              </a:rPr>
              <a:t>Prédiction : Le modèle de Machine Learning préalablement optimisé évalue les caractéristiques et fournit une prédiction.</a:t>
            </a:r>
          </a:p>
          <a:p>
            <a:pPr>
              <a:lnSpc>
                <a:spcPts val="3487"/>
              </a:lnSpc>
            </a:pPr>
            <a:r>
              <a:rPr lang="en-US" sz="2490">
                <a:solidFill>
                  <a:srgbClr val="FFFFFF"/>
                </a:solidFill>
                <a:latin typeface="Canva Sans Bold"/>
              </a:rPr>
              <a:t>Modèle de Machine Learning</a:t>
            </a:r>
          </a:p>
          <a:p>
            <a:pPr marL="537795" indent="-268898" lvl="1">
              <a:lnSpc>
                <a:spcPts val="3487"/>
              </a:lnSpc>
              <a:buFont typeface="Arial"/>
              <a:buChar char="•"/>
            </a:pPr>
            <a:r>
              <a:rPr lang="en-US" sz="2490">
                <a:solidFill>
                  <a:srgbClr val="FFFFFF"/>
                </a:solidFill>
                <a:latin typeface="Canva Sans Bold"/>
              </a:rPr>
              <a:t>Technologie Utilisée : LightGBM pour sa rapidité et efficacité sur de grands ensembles de données.</a:t>
            </a:r>
          </a:p>
          <a:p>
            <a:pPr marL="537795" indent="-268898" lvl="1">
              <a:lnSpc>
                <a:spcPts val="3487"/>
              </a:lnSpc>
              <a:buFont typeface="Arial"/>
              <a:buChar char="•"/>
            </a:pPr>
            <a:r>
              <a:rPr lang="en-US" sz="2490">
                <a:solidFill>
                  <a:srgbClr val="FFFFFF"/>
                </a:solidFill>
                <a:latin typeface="Canva Sans Bold"/>
              </a:rPr>
              <a:t>Optimisation des Hyperparamètres : Utilisation de GridSearchCV pour trouver la meilleure configuration.</a:t>
            </a:r>
          </a:p>
          <a:p>
            <a:pPr>
              <a:lnSpc>
                <a:spcPts val="3487"/>
              </a:lnSpc>
            </a:pPr>
            <a:r>
              <a:rPr lang="en-US" sz="2490">
                <a:solidFill>
                  <a:srgbClr val="FFFFFF"/>
                </a:solidFill>
                <a:latin typeface="Canva Sans Bold"/>
              </a:rPr>
              <a:t>Sécurité et Performance</a:t>
            </a:r>
          </a:p>
          <a:p>
            <a:pPr marL="537795" indent="-268898" lvl="1">
              <a:lnSpc>
                <a:spcPts val="3487"/>
              </a:lnSpc>
              <a:buFont typeface="Arial"/>
              <a:buChar char="•"/>
            </a:pPr>
            <a:r>
              <a:rPr lang="en-US" sz="2490">
                <a:solidFill>
                  <a:srgbClr val="FFFFFF"/>
                </a:solidFill>
                <a:latin typeface="Canva Sans Bold"/>
              </a:rPr>
              <a:t>Sécurité : Vérifications et nettoyage des fichiers exécutables chargés pour éviter les exécutions malveillantes.</a:t>
            </a:r>
          </a:p>
          <a:p>
            <a:pPr marL="537795" indent="-268898" lvl="1">
              <a:lnSpc>
                <a:spcPts val="3487"/>
              </a:lnSpc>
              <a:buFont typeface="Arial"/>
              <a:buChar char="•"/>
            </a:pPr>
            <a:r>
              <a:rPr lang="en-US" sz="2490">
                <a:solidFill>
                  <a:srgbClr val="FFFFFF"/>
                </a:solidFill>
                <a:latin typeface="Canva Sans Bold"/>
              </a:rPr>
              <a:t>Performance : Optimisations pour réduire les temps de réponse, incluant le chargement préalable du modèle en mémoire.</a:t>
            </a:r>
          </a:p>
          <a:p>
            <a:pPr>
              <a:lnSpc>
                <a:spcPts val="3487"/>
              </a:lnSpc>
            </a:pPr>
          </a:p>
        </p:txBody>
      </p:sp>
      <p:grpSp>
        <p:nvGrpSpPr>
          <p:cNvPr name="Group 4" id="4"/>
          <p:cNvGrpSpPr/>
          <p:nvPr/>
        </p:nvGrpSpPr>
        <p:grpSpPr>
          <a:xfrm rot="0">
            <a:off x="14800122" y="0"/>
            <a:ext cx="1747441" cy="3217485"/>
            <a:chOff x="0" y="0"/>
            <a:chExt cx="660400" cy="1215965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660400" cy="1215965"/>
            </a:xfrm>
            <a:custGeom>
              <a:avLst/>
              <a:gdLst/>
              <a:ahLst/>
              <a:cxnLst/>
              <a:rect r="r" b="b" t="t" l="l"/>
              <a:pathLst>
                <a:path h="1215965" w="660400">
                  <a:moveTo>
                    <a:pt x="220252" y="1196896"/>
                  </a:moveTo>
                  <a:cubicBezTo>
                    <a:pt x="254109" y="1208410"/>
                    <a:pt x="292600" y="1215965"/>
                    <a:pt x="330378" y="1215965"/>
                  </a:cubicBezTo>
                  <a:cubicBezTo>
                    <a:pt x="368157" y="1215965"/>
                    <a:pt x="404509" y="1209488"/>
                    <a:pt x="438009" y="1197974"/>
                  </a:cubicBezTo>
                  <a:cubicBezTo>
                    <a:pt x="438723" y="1197615"/>
                    <a:pt x="439435" y="1197615"/>
                    <a:pt x="440148" y="1197256"/>
                  </a:cubicBezTo>
                  <a:cubicBezTo>
                    <a:pt x="565955" y="1151200"/>
                    <a:pt x="658618" y="1029586"/>
                    <a:pt x="660400" y="878508"/>
                  </a:cubicBezTo>
                  <a:lnTo>
                    <a:pt x="660400" y="0"/>
                  </a:lnTo>
                  <a:lnTo>
                    <a:pt x="0" y="0"/>
                  </a:lnTo>
                  <a:lnTo>
                    <a:pt x="0" y="877856"/>
                  </a:lnTo>
                  <a:cubicBezTo>
                    <a:pt x="1782" y="1030305"/>
                    <a:pt x="93019" y="1151920"/>
                    <a:pt x="220252" y="1196896"/>
                  </a:cubicBezTo>
                  <a:close/>
                </a:path>
              </a:pathLst>
            </a:custGeom>
            <a:solidFill>
              <a:srgbClr val="8144A2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19050"/>
              <a:ext cx="660400" cy="11080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40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-10800000">
            <a:off x="16540559" y="1054355"/>
            <a:ext cx="1747441" cy="2749526"/>
            <a:chOff x="0" y="0"/>
            <a:chExt cx="660400" cy="1039112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660400" cy="1039112"/>
            </a:xfrm>
            <a:custGeom>
              <a:avLst/>
              <a:gdLst/>
              <a:ahLst/>
              <a:cxnLst/>
              <a:rect r="r" b="b" t="t" l="l"/>
              <a:pathLst>
                <a:path h="1039112" w="660400">
                  <a:moveTo>
                    <a:pt x="220252" y="1020043"/>
                  </a:moveTo>
                  <a:cubicBezTo>
                    <a:pt x="254109" y="1031557"/>
                    <a:pt x="292600" y="1039112"/>
                    <a:pt x="330378" y="1039112"/>
                  </a:cubicBezTo>
                  <a:cubicBezTo>
                    <a:pt x="368157" y="1039112"/>
                    <a:pt x="404509" y="1032635"/>
                    <a:pt x="438009" y="1021121"/>
                  </a:cubicBezTo>
                  <a:cubicBezTo>
                    <a:pt x="438723" y="1020762"/>
                    <a:pt x="439435" y="1020762"/>
                    <a:pt x="440148" y="1020402"/>
                  </a:cubicBezTo>
                  <a:cubicBezTo>
                    <a:pt x="565955" y="974347"/>
                    <a:pt x="658618" y="852733"/>
                    <a:pt x="660400" y="705583"/>
                  </a:cubicBezTo>
                  <a:lnTo>
                    <a:pt x="660400" y="0"/>
                  </a:lnTo>
                  <a:lnTo>
                    <a:pt x="0" y="0"/>
                  </a:lnTo>
                  <a:lnTo>
                    <a:pt x="0" y="705059"/>
                  </a:lnTo>
                  <a:cubicBezTo>
                    <a:pt x="1782" y="853452"/>
                    <a:pt x="93019" y="975067"/>
                    <a:pt x="220252" y="1020043"/>
                  </a:cubicBezTo>
                  <a:close/>
                </a:path>
              </a:pathLst>
            </a:custGeom>
            <a:solidFill>
              <a:srgbClr val="652C84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19050"/>
              <a:ext cx="660400" cy="93116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40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6540559" y="0"/>
            <a:ext cx="1747441" cy="1054355"/>
            <a:chOff x="0" y="0"/>
            <a:chExt cx="660400" cy="398466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660400" cy="398466"/>
            </a:xfrm>
            <a:custGeom>
              <a:avLst/>
              <a:gdLst/>
              <a:ahLst/>
              <a:cxnLst/>
              <a:rect r="r" b="b" t="t" l="l"/>
              <a:pathLst>
                <a:path h="398466" w="660400">
                  <a:moveTo>
                    <a:pt x="220252" y="379397"/>
                  </a:moveTo>
                  <a:cubicBezTo>
                    <a:pt x="254109" y="390911"/>
                    <a:pt x="292600" y="398466"/>
                    <a:pt x="330378" y="398466"/>
                  </a:cubicBezTo>
                  <a:cubicBezTo>
                    <a:pt x="368157" y="398466"/>
                    <a:pt x="404509" y="391989"/>
                    <a:pt x="438009" y="380475"/>
                  </a:cubicBezTo>
                  <a:cubicBezTo>
                    <a:pt x="438723" y="380116"/>
                    <a:pt x="439435" y="380116"/>
                    <a:pt x="440148" y="379757"/>
                  </a:cubicBezTo>
                  <a:cubicBezTo>
                    <a:pt x="565955" y="333701"/>
                    <a:pt x="658618" y="212087"/>
                    <a:pt x="660400" y="79168"/>
                  </a:cubicBezTo>
                  <a:lnTo>
                    <a:pt x="660400" y="0"/>
                  </a:lnTo>
                  <a:lnTo>
                    <a:pt x="0" y="0"/>
                  </a:lnTo>
                  <a:lnTo>
                    <a:pt x="0" y="79109"/>
                  </a:lnTo>
                  <a:cubicBezTo>
                    <a:pt x="1782" y="212806"/>
                    <a:pt x="93019" y="334421"/>
                    <a:pt x="220252" y="379397"/>
                  </a:cubicBezTo>
                  <a:close/>
                </a:path>
              </a:pathLst>
            </a:custGeom>
            <a:solidFill>
              <a:srgbClr val="F15A29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19050"/>
              <a:ext cx="660400" cy="29051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40"/>
                </a:lnSpc>
              </a:pPr>
            </a:p>
          </p:txBody>
        </p:sp>
      </p:grpSp>
      <p:sp>
        <p:nvSpPr>
          <p:cNvPr name="Freeform 13" id="13"/>
          <p:cNvSpPr/>
          <p:nvPr/>
        </p:nvSpPr>
        <p:spPr>
          <a:xfrm flipH="false" flipV="false" rot="0">
            <a:off x="15380816" y="3217485"/>
            <a:ext cx="586052" cy="586052"/>
          </a:xfrm>
          <a:custGeom>
            <a:avLst/>
            <a:gdLst/>
            <a:ahLst/>
            <a:cxnLst/>
            <a:rect r="r" b="b" t="t" l="l"/>
            <a:pathLst>
              <a:path h="586052" w="586052">
                <a:moveTo>
                  <a:pt x="0" y="0"/>
                </a:moveTo>
                <a:lnTo>
                  <a:pt x="586052" y="0"/>
                </a:lnTo>
                <a:lnTo>
                  <a:pt x="586052" y="586052"/>
                </a:lnTo>
                <a:lnTo>
                  <a:pt x="0" y="58605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57145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121817" y="3091408"/>
            <a:ext cx="8166183" cy="7195592"/>
            <a:chOff x="0" y="0"/>
            <a:chExt cx="10888244" cy="9594123"/>
          </a:xfrm>
        </p:grpSpPr>
        <p:pic>
          <p:nvPicPr>
            <p:cNvPr name="Picture 3" id="3"/>
            <p:cNvPicPr>
              <a:picLocks noChangeAspect="true"/>
            </p:cNvPicPr>
            <p:nvPr/>
          </p:nvPicPr>
          <p:blipFill>
            <a:blip r:embed="rId2"/>
            <a:srcRect l="0" t="3695" r="0" b="3695"/>
            <a:stretch>
              <a:fillRect/>
            </a:stretch>
          </p:blipFill>
          <p:spPr>
            <a:xfrm flipH="false" flipV="false">
              <a:off x="0" y="0"/>
              <a:ext cx="10888244" cy="9594123"/>
            </a:xfrm>
            <a:prstGeom prst="rect">
              <a:avLst/>
            </a:prstGeom>
          </p:spPr>
        </p:pic>
      </p:grpSp>
      <p:grpSp>
        <p:nvGrpSpPr>
          <p:cNvPr name="Group 4" id="4"/>
          <p:cNvGrpSpPr/>
          <p:nvPr/>
        </p:nvGrpSpPr>
        <p:grpSpPr>
          <a:xfrm rot="0">
            <a:off x="13659925" y="-59406"/>
            <a:ext cx="2318684" cy="4269289"/>
            <a:chOff x="0" y="0"/>
            <a:chExt cx="660400" cy="1215965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660400" cy="1215965"/>
            </a:xfrm>
            <a:custGeom>
              <a:avLst/>
              <a:gdLst/>
              <a:ahLst/>
              <a:cxnLst/>
              <a:rect r="r" b="b" t="t" l="l"/>
              <a:pathLst>
                <a:path h="1215965" w="660400">
                  <a:moveTo>
                    <a:pt x="220252" y="1196896"/>
                  </a:moveTo>
                  <a:cubicBezTo>
                    <a:pt x="254109" y="1208410"/>
                    <a:pt x="292600" y="1215965"/>
                    <a:pt x="330378" y="1215965"/>
                  </a:cubicBezTo>
                  <a:cubicBezTo>
                    <a:pt x="368157" y="1215965"/>
                    <a:pt x="404509" y="1209488"/>
                    <a:pt x="438009" y="1197974"/>
                  </a:cubicBezTo>
                  <a:cubicBezTo>
                    <a:pt x="438723" y="1197615"/>
                    <a:pt x="439435" y="1197615"/>
                    <a:pt x="440148" y="1197256"/>
                  </a:cubicBezTo>
                  <a:cubicBezTo>
                    <a:pt x="565955" y="1151200"/>
                    <a:pt x="658618" y="1029586"/>
                    <a:pt x="660400" y="878508"/>
                  </a:cubicBezTo>
                  <a:lnTo>
                    <a:pt x="660400" y="0"/>
                  </a:lnTo>
                  <a:lnTo>
                    <a:pt x="0" y="0"/>
                  </a:lnTo>
                  <a:lnTo>
                    <a:pt x="0" y="877856"/>
                  </a:lnTo>
                  <a:cubicBezTo>
                    <a:pt x="1782" y="1030305"/>
                    <a:pt x="93019" y="1151920"/>
                    <a:pt x="220252" y="1196896"/>
                  </a:cubicBezTo>
                  <a:close/>
                </a:path>
              </a:pathLst>
            </a:custGeom>
            <a:solidFill>
              <a:srgbClr val="8144A2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19050"/>
              <a:ext cx="660400" cy="11080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40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-10800000">
            <a:off x="15969316" y="1339621"/>
            <a:ext cx="2318684" cy="3648353"/>
            <a:chOff x="0" y="0"/>
            <a:chExt cx="660400" cy="1039112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660400" cy="1039112"/>
            </a:xfrm>
            <a:custGeom>
              <a:avLst/>
              <a:gdLst/>
              <a:ahLst/>
              <a:cxnLst/>
              <a:rect r="r" b="b" t="t" l="l"/>
              <a:pathLst>
                <a:path h="1039112" w="660400">
                  <a:moveTo>
                    <a:pt x="220252" y="1020043"/>
                  </a:moveTo>
                  <a:cubicBezTo>
                    <a:pt x="254109" y="1031557"/>
                    <a:pt x="292600" y="1039112"/>
                    <a:pt x="330378" y="1039112"/>
                  </a:cubicBezTo>
                  <a:cubicBezTo>
                    <a:pt x="368157" y="1039112"/>
                    <a:pt x="404509" y="1032635"/>
                    <a:pt x="438009" y="1021121"/>
                  </a:cubicBezTo>
                  <a:cubicBezTo>
                    <a:pt x="438723" y="1020762"/>
                    <a:pt x="439435" y="1020762"/>
                    <a:pt x="440148" y="1020402"/>
                  </a:cubicBezTo>
                  <a:cubicBezTo>
                    <a:pt x="565955" y="974347"/>
                    <a:pt x="658618" y="852733"/>
                    <a:pt x="660400" y="705583"/>
                  </a:cubicBezTo>
                  <a:lnTo>
                    <a:pt x="660400" y="0"/>
                  </a:lnTo>
                  <a:lnTo>
                    <a:pt x="0" y="0"/>
                  </a:lnTo>
                  <a:lnTo>
                    <a:pt x="0" y="705059"/>
                  </a:lnTo>
                  <a:cubicBezTo>
                    <a:pt x="1782" y="853452"/>
                    <a:pt x="93019" y="975067"/>
                    <a:pt x="220252" y="1020043"/>
                  </a:cubicBezTo>
                  <a:close/>
                </a:path>
              </a:pathLst>
            </a:custGeom>
            <a:solidFill>
              <a:srgbClr val="652C84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19050"/>
              <a:ext cx="660400" cy="93116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40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5969316" y="-59406"/>
            <a:ext cx="2318684" cy="1399027"/>
            <a:chOff x="0" y="0"/>
            <a:chExt cx="660400" cy="398466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660400" cy="398466"/>
            </a:xfrm>
            <a:custGeom>
              <a:avLst/>
              <a:gdLst/>
              <a:ahLst/>
              <a:cxnLst/>
              <a:rect r="r" b="b" t="t" l="l"/>
              <a:pathLst>
                <a:path h="398466" w="660400">
                  <a:moveTo>
                    <a:pt x="220252" y="379397"/>
                  </a:moveTo>
                  <a:cubicBezTo>
                    <a:pt x="254109" y="390911"/>
                    <a:pt x="292600" y="398466"/>
                    <a:pt x="330378" y="398466"/>
                  </a:cubicBezTo>
                  <a:cubicBezTo>
                    <a:pt x="368157" y="398466"/>
                    <a:pt x="404509" y="391989"/>
                    <a:pt x="438009" y="380475"/>
                  </a:cubicBezTo>
                  <a:cubicBezTo>
                    <a:pt x="438723" y="380116"/>
                    <a:pt x="439435" y="380116"/>
                    <a:pt x="440148" y="379757"/>
                  </a:cubicBezTo>
                  <a:cubicBezTo>
                    <a:pt x="565955" y="333701"/>
                    <a:pt x="658618" y="212087"/>
                    <a:pt x="660400" y="79168"/>
                  </a:cubicBezTo>
                  <a:lnTo>
                    <a:pt x="660400" y="0"/>
                  </a:lnTo>
                  <a:lnTo>
                    <a:pt x="0" y="0"/>
                  </a:lnTo>
                  <a:lnTo>
                    <a:pt x="0" y="79109"/>
                  </a:lnTo>
                  <a:cubicBezTo>
                    <a:pt x="1782" y="212806"/>
                    <a:pt x="93019" y="334421"/>
                    <a:pt x="220252" y="379397"/>
                  </a:cubicBezTo>
                  <a:close/>
                </a:path>
              </a:pathLst>
            </a:custGeom>
            <a:solidFill>
              <a:srgbClr val="F15A29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19050"/>
              <a:ext cx="660400" cy="29051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40"/>
                </a:lnSpc>
              </a:pPr>
            </a:p>
          </p:txBody>
        </p:sp>
      </p:grpSp>
      <p:sp>
        <p:nvSpPr>
          <p:cNvPr name="Freeform 13" id="13"/>
          <p:cNvSpPr/>
          <p:nvPr/>
        </p:nvSpPr>
        <p:spPr>
          <a:xfrm flipH="false" flipV="false" rot="0">
            <a:off x="14430450" y="4209884"/>
            <a:ext cx="777634" cy="777634"/>
          </a:xfrm>
          <a:custGeom>
            <a:avLst/>
            <a:gdLst/>
            <a:ahLst/>
            <a:cxnLst/>
            <a:rect r="r" b="b" t="t" l="l"/>
            <a:pathLst>
              <a:path h="777634" w="777634">
                <a:moveTo>
                  <a:pt x="0" y="0"/>
                </a:moveTo>
                <a:lnTo>
                  <a:pt x="777634" y="0"/>
                </a:lnTo>
                <a:lnTo>
                  <a:pt x="777634" y="777634"/>
                </a:lnTo>
                <a:lnTo>
                  <a:pt x="0" y="77763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792442" y="1028700"/>
            <a:ext cx="11054191" cy="8362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>
              <a:lnSpc>
                <a:spcPts val="5940"/>
              </a:lnSpc>
            </a:pPr>
            <a:r>
              <a:rPr lang="en-US" sz="5500">
                <a:solidFill>
                  <a:srgbClr val="FFFFFF"/>
                </a:solidFill>
                <a:latin typeface="Boston Angel"/>
              </a:rPr>
              <a:t>Déploiement avec Django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627047" y="2381477"/>
            <a:ext cx="11054191" cy="13627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>
              <a:lnSpc>
                <a:spcPts val="3639"/>
              </a:lnSpc>
            </a:pPr>
            <a:r>
              <a:rPr lang="en-US" sz="2599">
                <a:solidFill>
                  <a:srgbClr val="FFFFFF"/>
                </a:solidFill>
                <a:latin typeface="Canva Sans"/>
              </a:rPr>
              <a:t>Architecture de l'application :Intégration du modèle de machine learning </a:t>
            </a:r>
          </a:p>
          <a:p>
            <a:pPr>
              <a:lnSpc>
                <a:spcPts val="3639"/>
              </a:lnSpc>
            </a:pPr>
          </a:p>
        </p:txBody>
      </p:sp>
      <p:sp>
        <p:nvSpPr>
          <p:cNvPr name="TextBox 16" id="16"/>
          <p:cNvSpPr txBox="true"/>
          <p:nvPr/>
        </p:nvSpPr>
        <p:spPr>
          <a:xfrm rot="0">
            <a:off x="367140" y="3974905"/>
            <a:ext cx="11054191" cy="860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>
              <a:lnSpc>
                <a:spcPts val="3499"/>
              </a:lnSpc>
            </a:pPr>
            <a:r>
              <a:rPr lang="en-US" sz="2499">
                <a:solidFill>
                  <a:srgbClr val="FFFFFF"/>
                </a:solidFill>
                <a:latin typeface="Canva Sans"/>
              </a:rPr>
              <a:t>Accès à l'application en local : http://127.0.0.1:8000/ </a:t>
            </a:r>
          </a:p>
          <a:p>
            <a:pPr>
              <a:lnSpc>
                <a:spcPts val="3499"/>
              </a:lnSpc>
            </a:pP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57145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3006851" y="0"/>
            <a:ext cx="2645877" cy="4871735"/>
            <a:chOff x="0" y="0"/>
            <a:chExt cx="660400" cy="121596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60400" cy="1215965"/>
            </a:xfrm>
            <a:custGeom>
              <a:avLst/>
              <a:gdLst/>
              <a:ahLst/>
              <a:cxnLst/>
              <a:rect r="r" b="b" t="t" l="l"/>
              <a:pathLst>
                <a:path h="1215965" w="660400">
                  <a:moveTo>
                    <a:pt x="220252" y="1196896"/>
                  </a:moveTo>
                  <a:cubicBezTo>
                    <a:pt x="254109" y="1208410"/>
                    <a:pt x="292600" y="1215965"/>
                    <a:pt x="330378" y="1215965"/>
                  </a:cubicBezTo>
                  <a:cubicBezTo>
                    <a:pt x="368157" y="1215965"/>
                    <a:pt x="404509" y="1209488"/>
                    <a:pt x="438009" y="1197974"/>
                  </a:cubicBezTo>
                  <a:cubicBezTo>
                    <a:pt x="438723" y="1197615"/>
                    <a:pt x="439435" y="1197615"/>
                    <a:pt x="440148" y="1197256"/>
                  </a:cubicBezTo>
                  <a:cubicBezTo>
                    <a:pt x="565955" y="1151200"/>
                    <a:pt x="658618" y="1029586"/>
                    <a:pt x="660400" y="878508"/>
                  </a:cubicBezTo>
                  <a:lnTo>
                    <a:pt x="660400" y="0"/>
                  </a:lnTo>
                  <a:lnTo>
                    <a:pt x="0" y="0"/>
                  </a:lnTo>
                  <a:lnTo>
                    <a:pt x="0" y="877856"/>
                  </a:lnTo>
                  <a:cubicBezTo>
                    <a:pt x="1782" y="1030305"/>
                    <a:pt x="93019" y="1151920"/>
                    <a:pt x="220252" y="1196896"/>
                  </a:cubicBezTo>
                  <a:close/>
                </a:path>
              </a:pathLst>
            </a:custGeom>
            <a:solidFill>
              <a:srgbClr val="8144A2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19050"/>
              <a:ext cx="660400" cy="11080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4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-10800000">
            <a:off x="15642123" y="1596445"/>
            <a:ext cx="2645877" cy="4163177"/>
            <a:chOff x="0" y="0"/>
            <a:chExt cx="660400" cy="103911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660400" cy="1039112"/>
            </a:xfrm>
            <a:custGeom>
              <a:avLst/>
              <a:gdLst/>
              <a:ahLst/>
              <a:cxnLst/>
              <a:rect r="r" b="b" t="t" l="l"/>
              <a:pathLst>
                <a:path h="1039112" w="660400">
                  <a:moveTo>
                    <a:pt x="220252" y="1020043"/>
                  </a:moveTo>
                  <a:cubicBezTo>
                    <a:pt x="254109" y="1031557"/>
                    <a:pt x="292600" y="1039112"/>
                    <a:pt x="330378" y="1039112"/>
                  </a:cubicBezTo>
                  <a:cubicBezTo>
                    <a:pt x="368157" y="1039112"/>
                    <a:pt x="404509" y="1032635"/>
                    <a:pt x="438009" y="1021121"/>
                  </a:cubicBezTo>
                  <a:cubicBezTo>
                    <a:pt x="438723" y="1020762"/>
                    <a:pt x="439435" y="1020762"/>
                    <a:pt x="440148" y="1020402"/>
                  </a:cubicBezTo>
                  <a:cubicBezTo>
                    <a:pt x="565955" y="974347"/>
                    <a:pt x="658618" y="852733"/>
                    <a:pt x="660400" y="705583"/>
                  </a:cubicBezTo>
                  <a:lnTo>
                    <a:pt x="660400" y="0"/>
                  </a:lnTo>
                  <a:lnTo>
                    <a:pt x="0" y="0"/>
                  </a:lnTo>
                  <a:lnTo>
                    <a:pt x="0" y="705059"/>
                  </a:lnTo>
                  <a:cubicBezTo>
                    <a:pt x="1782" y="853452"/>
                    <a:pt x="93019" y="975067"/>
                    <a:pt x="220252" y="1020043"/>
                  </a:cubicBezTo>
                  <a:close/>
                </a:path>
              </a:pathLst>
            </a:custGeom>
            <a:solidFill>
              <a:srgbClr val="652C84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19050"/>
              <a:ext cx="660400" cy="93116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40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5642123" y="0"/>
            <a:ext cx="2645877" cy="1596445"/>
            <a:chOff x="0" y="0"/>
            <a:chExt cx="660400" cy="398466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660400" cy="398466"/>
            </a:xfrm>
            <a:custGeom>
              <a:avLst/>
              <a:gdLst/>
              <a:ahLst/>
              <a:cxnLst/>
              <a:rect r="r" b="b" t="t" l="l"/>
              <a:pathLst>
                <a:path h="398466" w="660400">
                  <a:moveTo>
                    <a:pt x="220252" y="379397"/>
                  </a:moveTo>
                  <a:cubicBezTo>
                    <a:pt x="254109" y="390911"/>
                    <a:pt x="292600" y="398466"/>
                    <a:pt x="330378" y="398466"/>
                  </a:cubicBezTo>
                  <a:cubicBezTo>
                    <a:pt x="368157" y="398466"/>
                    <a:pt x="404509" y="391989"/>
                    <a:pt x="438009" y="380475"/>
                  </a:cubicBezTo>
                  <a:cubicBezTo>
                    <a:pt x="438723" y="380116"/>
                    <a:pt x="439435" y="380116"/>
                    <a:pt x="440148" y="379757"/>
                  </a:cubicBezTo>
                  <a:cubicBezTo>
                    <a:pt x="565955" y="333701"/>
                    <a:pt x="658618" y="212087"/>
                    <a:pt x="660400" y="79168"/>
                  </a:cubicBezTo>
                  <a:lnTo>
                    <a:pt x="660400" y="0"/>
                  </a:lnTo>
                  <a:lnTo>
                    <a:pt x="0" y="0"/>
                  </a:lnTo>
                  <a:lnTo>
                    <a:pt x="0" y="79109"/>
                  </a:lnTo>
                  <a:cubicBezTo>
                    <a:pt x="1782" y="212806"/>
                    <a:pt x="93019" y="334421"/>
                    <a:pt x="220252" y="379397"/>
                  </a:cubicBezTo>
                  <a:close/>
                </a:path>
              </a:pathLst>
            </a:custGeom>
            <a:solidFill>
              <a:srgbClr val="F15A29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19050"/>
              <a:ext cx="660400" cy="29051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40"/>
                </a:lnSpc>
              </a:pP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0">
            <a:off x="13886106" y="4871735"/>
            <a:ext cx="887367" cy="887367"/>
          </a:xfrm>
          <a:custGeom>
            <a:avLst/>
            <a:gdLst/>
            <a:ahLst/>
            <a:cxnLst/>
            <a:rect r="r" b="b" t="t" l="l"/>
            <a:pathLst>
              <a:path h="887367" w="887367">
                <a:moveTo>
                  <a:pt x="0" y="0"/>
                </a:moveTo>
                <a:lnTo>
                  <a:pt x="887366" y="0"/>
                </a:lnTo>
                <a:lnTo>
                  <a:pt x="887366" y="887367"/>
                </a:lnTo>
                <a:lnTo>
                  <a:pt x="0" y="88736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792442" y="1028700"/>
            <a:ext cx="11054191" cy="8362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>
              <a:lnSpc>
                <a:spcPts val="5940"/>
              </a:lnSpc>
            </a:pPr>
            <a:r>
              <a:rPr lang="en-US" sz="5500">
                <a:solidFill>
                  <a:srgbClr val="FFFFFF"/>
                </a:solidFill>
                <a:latin typeface="Boston Angel"/>
              </a:rPr>
              <a:t>Discussion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-10604" y="5759623"/>
            <a:ext cx="15652727" cy="4527377"/>
            <a:chOff x="0" y="0"/>
            <a:chExt cx="4122529" cy="1192396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4122529" cy="1192396"/>
            </a:xfrm>
            <a:custGeom>
              <a:avLst/>
              <a:gdLst/>
              <a:ahLst/>
              <a:cxnLst/>
              <a:rect r="r" b="b" t="t" l="l"/>
              <a:pathLst>
                <a:path h="1192396" w="4122529">
                  <a:moveTo>
                    <a:pt x="0" y="0"/>
                  </a:moveTo>
                  <a:lnTo>
                    <a:pt x="4122529" y="0"/>
                  </a:lnTo>
                  <a:lnTo>
                    <a:pt x="4122529" y="1192396"/>
                  </a:lnTo>
                  <a:lnTo>
                    <a:pt x="0" y="1192396"/>
                  </a:lnTo>
                  <a:close/>
                </a:path>
              </a:pathLst>
            </a:custGeom>
            <a:solidFill>
              <a:srgbClr val="652C84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47625"/>
              <a:ext cx="4122529" cy="124002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sp>
        <p:nvSpPr>
          <p:cNvPr name="TextBox 16" id="16"/>
          <p:cNvSpPr txBox="true"/>
          <p:nvPr/>
        </p:nvSpPr>
        <p:spPr>
          <a:xfrm rot="0">
            <a:off x="1028700" y="7398061"/>
            <a:ext cx="915671" cy="11587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>
              <a:lnSpc>
                <a:spcPts val="8365"/>
              </a:lnSpc>
            </a:pPr>
            <a:r>
              <a:rPr lang="en-US" sz="7745">
                <a:solidFill>
                  <a:srgbClr val="FFFFFF"/>
                </a:solidFill>
                <a:latin typeface="Boston Angel"/>
              </a:rPr>
              <a:t>1.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5797284" y="7398061"/>
            <a:ext cx="915671" cy="11587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>
              <a:lnSpc>
                <a:spcPts val="8365"/>
              </a:lnSpc>
            </a:pPr>
            <a:r>
              <a:rPr lang="en-US" sz="7745">
                <a:solidFill>
                  <a:srgbClr val="FFFFFF"/>
                </a:solidFill>
                <a:latin typeface="Boston Angel"/>
              </a:rPr>
              <a:t>2.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552999" y="6150374"/>
            <a:ext cx="5183079" cy="801185"/>
            <a:chOff x="0" y="0"/>
            <a:chExt cx="2351353" cy="363465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2351353" cy="363465"/>
            </a:xfrm>
            <a:custGeom>
              <a:avLst/>
              <a:gdLst/>
              <a:ahLst/>
              <a:cxnLst/>
              <a:rect r="r" b="b" t="t" l="l"/>
              <a:pathLst>
                <a:path h="363465" w="2351353">
                  <a:moveTo>
                    <a:pt x="82153" y="0"/>
                  </a:moveTo>
                  <a:lnTo>
                    <a:pt x="2269200" y="0"/>
                  </a:lnTo>
                  <a:cubicBezTo>
                    <a:pt x="2314572" y="0"/>
                    <a:pt x="2351353" y="36781"/>
                    <a:pt x="2351353" y="82153"/>
                  </a:cubicBezTo>
                  <a:lnTo>
                    <a:pt x="2351353" y="281312"/>
                  </a:lnTo>
                  <a:cubicBezTo>
                    <a:pt x="2351353" y="326684"/>
                    <a:pt x="2314572" y="363465"/>
                    <a:pt x="2269200" y="363465"/>
                  </a:cubicBezTo>
                  <a:lnTo>
                    <a:pt x="82153" y="363465"/>
                  </a:lnTo>
                  <a:cubicBezTo>
                    <a:pt x="36781" y="363465"/>
                    <a:pt x="0" y="326684"/>
                    <a:pt x="0" y="281312"/>
                  </a:cubicBezTo>
                  <a:lnTo>
                    <a:pt x="0" y="82153"/>
                  </a:lnTo>
                  <a:cubicBezTo>
                    <a:pt x="0" y="36781"/>
                    <a:pt x="36781" y="0"/>
                    <a:pt x="82153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rnd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name="TextBox 20" id="20"/>
            <p:cNvSpPr txBox="true"/>
            <p:nvPr/>
          </p:nvSpPr>
          <p:spPr>
            <a:xfrm>
              <a:off x="0" y="-19050"/>
              <a:ext cx="2351353" cy="3825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40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21" id="21"/>
          <p:cNvSpPr txBox="true"/>
          <p:nvPr/>
        </p:nvSpPr>
        <p:spPr>
          <a:xfrm rot="0">
            <a:off x="792442" y="6295697"/>
            <a:ext cx="4663060" cy="5200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80"/>
              </a:lnSpc>
            </a:pPr>
            <a:r>
              <a:rPr lang="en-US" sz="3500">
                <a:solidFill>
                  <a:srgbClr val="FFFFFF"/>
                </a:solidFill>
                <a:latin typeface="Boston Angel"/>
              </a:rPr>
              <a:t>Algorithmes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608302" y="2641369"/>
            <a:ext cx="11293634" cy="23082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>
              <a:lnSpc>
                <a:spcPts val="4546"/>
              </a:lnSpc>
            </a:pPr>
            <a:r>
              <a:rPr lang="en-US" sz="3247">
                <a:solidFill>
                  <a:srgbClr val="FFFFFF"/>
                </a:solidFill>
                <a:latin typeface="Canva Sans"/>
              </a:rPr>
              <a:t> - Impact de l'optimisation sur les performances. </a:t>
            </a:r>
          </a:p>
          <a:p>
            <a:pPr>
              <a:lnSpc>
                <a:spcPts val="4546"/>
              </a:lnSpc>
            </a:pPr>
          </a:p>
          <a:p>
            <a:pPr>
              <a:lnSpc>
                <a:spcPts val="4826"/>
              </a:lnSpc>
            </a:pPr>
          </a:p>
          <a:p>
            <a:pPr>
              <a:lnSpc>
                <a:spcPts val="4546"/>
              </a:lnSpc>
            </a:pPr>
            <a:r>
              <a:rPr lang="en-US" sz="3247">
                <a:solidFill>
                  <a:srgbClr val="FFFFFF"/>
                </a:solidFill>
                <a:latin typeface="Canva Sans"/>
              </a:rPr>
              <a:t>- Équilibre entre précision et efficacité.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9656228" y="7453460"/>
            <a:ext cx="915671" cy="11587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>
              <a:lnSpc>
                <a:spcPts val="8365"/>
              </a:lnSpc>
            </a:pPr>
            <a:r>
              <a:rPr lang="en-US" sz="7745">
                <a:solidFill>
                  <a:srgbClr val="FFFFFF"/>
                </a:solidFill>
                <a:latin typeface="Boston Angel"/>
              </a:rPr>
              <a:t>3.</a:t>
            </a:r>
          </a:p>
        </p:txBody>
      </p:sp>
      <p:sp>
        <p:nvSpPr>
          <p:cNvPr name="AutoShape 24" id="24"/>
          <p:cNvSpPr/>
          <p:nvPr/>
        </p:nvSpPr>
        <p:spPr>
          <a:xfrm flipH="true" flipV="true">
            <a:off x="4198307" y="7561159"/>
            <a:ext cx="0" cy="2085978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5" id="25"/>
          <p:cNvSpPr/>
          <p:nvPr/>
        </p:nvSpPr>
        <p:spPr>
          <a:xfrm flipV="true">
            <a:off x="9227603" y="7561159"/>
            <a:ext cx="0" cy="2085978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26" id="26"/>
          <p:cNvSpPr txBox="true"/>
          <p:nvPr/>
        </p:nvSpPr>
        <p:spPr>
          <a:xfrm rot="0">
            <a:off x="14692776" y="7788361"/>
            <a:ext cx="2015137" cy="422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>
              <a:lnSpc>
                <a:spcPts val="3499"/>
              </a:lnSpc>
            </a:pPr>
            <a:r>
              <a:rPr lang="en-US" sz="2499">
                <a:solidFill>
                  <a:srgbClr val="FFFFFF"/>
                </a:solidFill>
                <a:latin typeface="Canva Sans"/>
              </a:rPr>
              <a:t>Knn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6779191" y="7696388"/>
            <a:ext cx="2015137" cy="422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>
              <a:lnSpc>
                <a:spcPts val="3499"/>
              </a:lnSpc>
            </a:pPr>
            <a:r>
              <a:rPr lang="en-US" sz="2499">
                <a:solidFill>
                  <a:srgbClr val="FFFFFF"/>
                </a:solidFill>
                <a:latin typeface="Canva Sans"/>
              </a:rPr>
              <a:t>RFC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666912" y="7751659"/>
            <a:ext cx="2445670" cy="422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>
              <a:lnSpc>
                <a:spcPts val="3499"/>
              </a:lnSpc>
            </a:pPr>
            <a:r>
              <a:rPr lang="en-US" sz="2499">
                <a:solidFill>
                  <a:srgbClr val="FFFFFF"/>
                </a:solidFill>
                <a:latin typeface="Canva Sans"/>
              </a:rPr>
              <a:t>Light GBM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3857801" y="7453460"/>
            <a:ext cx="915671" cy="11587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>
              <a:lnSpc>
                <a:spcPts val="8365"/>
              </a:lnSpc>
            </a:pPr>
            <a:r>
              <a:rPr lang="en-US" sz="7745">
                <a:solidFill>
                  <a:srgbClr val="FFFFFF"/>
                </a:solidFill>
                <a:latin typeface="Boston Angel"/>
              </a:rPr>
              <a:t>4.</a:t>
            </a:r>
          </a:p>
        </p:txBody>
      </p:sp>
      <p:sp>
        <p:nvSpPr>
          <p:cNvPr name="AutoShape 30" id="30"/>
          <p:cNvSpPr/>
          <p:nvPr/>
        </p:nvSpPr>
        <p:spPr>
          <a:xfrm flipV="true">
            <a:off x="12987801" y="7513825"/>
            <a:ext cx="0" cy="2085978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31" id="31"/>
          <p:cNvSpPr txBox="true"/>
          <p:nvPr/>
        </p:nvSpPr>
        <p:spPr>
          <a:xfrm rot="0">
            <a:off x="10561180" y="7732962"/>
            <a:ext cx="2445670" cy="422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>
              <a:lnSpc>
                <a:spcPts val="3499"/>
              </a:lnSpc>
            </a:pPr>
            <a:r>
              <a:rPr lang="en-US" sz="2499">
                <a:solidFill>
                  <a:srgbClr val="FFFFFF"/>
                </a:solidFill>
                <a:latin typeface="Canva Sans"/>
              </a:rPr>
              <a:t>Decision Tree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57145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5400000">
            <a:off x="1422806" y="6828360"/>
            <a:ext cx="2035834" cy="4881446"/>
            <a:chOff x="0" y="0"/>
            <a:chExt cx="660400" cy="158348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60400" cy="1583482"/>
            </a:xfrm>
            <a:custGeom>
              <a:avLst/>
              <a:gdLst/>
              <a:ahLst/>
              <a:cxnLst/>
              <a:rect r="r" b="b" t="t" l="l"/>
              <a:pathLst>
                <a:path h="1583482" w="660400">
                  <a:moveTo>
                    <a:pt x="220252" y="1564413"/>
                  </a:moveTo>
                  <a:cubicBezTo>
                    <a:pt x="254109" y="1575927"/>
                    <a:pt x="292600" y="1583482"/>
                    <a:pt x="330378" y="1583482"/>
                  </a:cubicBezTo>
                  <a:cubicBezTo>
                    <a:pt x="368157" y="1583482"/>
                    <a:pt x="404509" y="1577005"/>
                    <a:pt x="438009" y="1565491"/>
                  </a:cubicBezTo>
                  <a:cubicBezTo>
                    <a:pt x="438723" y="1565132"/>
                    <a:pt x="439435" y="1565132"/>
                    <a:pt x="440148" y="1564772"/>
                  </a:cubicBezTo>
                  <a:cubicBezTo>
                    <a:pt x="565955" y="1518717"/>
                    <a:pt x="658618" y="1397103"/>
                    <a:pt x="660400" y="1237861"/>
                  </a:cubicBezTo>
                  <a:lnTo>
                    <a:pt x="660400" y="0"/>
                  </a:lnTo>
                  <a:lnTo>
                    <a:pt x="0" y="0"/>
                  </a:lnTo>
                  <a:lnTo>
                    <a:pt x="0" y="1236942"/>
                  </a:lnTo>
                  <a:cubicBezTo>
                    <a:pt x="1782" y="1397822"/>
                    <a:pt x="93019" y="1519437"/>
                    <a:pt x="220252" y="1564413"/>
                  </a:cubicBezTo>
                  <a:close/>
                </a:path>
              </a:pathLst>
            </a:custGeom>
            <a:solidFill>
              <a:srgbClr val="8144A2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19050"/>
              <a:ext cx="660400" cy="147553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4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5400000">
            <a:off x="2406238" y="5045615"/>
            <a:ext cx="2035834" cy="4391584"/>
            <a:chOff x="0" y="0"/>
            <a:chExt cx="660400" cy="1424577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660400" cy="1424577"/>
            </a:xfrm>
            <a:custGeom>
              <a:avLst/>
              <a:gdLst/>
              <a:ahLst/>
              <a:cxnLst/>
              <a:rect r="r" b="b" t="t" l="l"/>
              <a:pathLst>
                <a:path h="1424577" w="660400">
                  <a:moveTo>
                    <a:pt x="220252" y="1405508"/>
                  </a:moveTo>
                  <a:cubicBezTo>
                    <a:pt x="254109" y="1417021"/>
                    <a:pt x="292600" y="1424577"/>
                    <a:pt x="330378" y="1424577"/>
                  </a:cubicBezTo>
                  <a:cubicBezTo>
                    <a:pt x="368157" y="1424577"/>
                    <a:pt x="404509" y="1418100"/>
                    <a:pt x="438009" y="1406586"/>
                  </a:cubicBezTo>
                  <a:cubicBezTo>
                    <a:pt x="438723" y="1406226"/>
                    <a:pt x="439435" y="1406226"/>
                    <a:pt x="440148" y="1405867"/>
                  </a:cubicBezTo>
                  <a:cubicBezTo>
                    <a:pt x="565955" y="1359812"/>
                    <a:pt x="658618" y="1238198"/>
                    <a:pt x="660400" y="1082485"/>
                  </a:cubicBezTo>
                  <a:lnTo>
                    <a:pt x="660400" y="0"/>
                  </a:lnTo>
                  <a:lnTo>
                    <a:pt x="0" y="0"/>
                  </a:lnTo>
                  <a:lnTo>
                    <a:pt x="0" y="1081682"/>
                  </a:lnTo>
                  <a:cubicBezTo>
                    <a:pt x="1782" y="1238917"/>
                    <a:pt x="93019" y="1360532"/>
                    <a:pt x="220252" y="1405508"/>
                  </a:cubicBezTo>
                  <a:close/>
                </a:path>
              </a:pathLst>
            </a:custGeom>
            <a:solidFill>
              <a:srgbClr val="652C84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19050"/>
              <a:ext cx="660400" cy="131662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40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-5400000">
            <a:off x="-403735" y="6627225"/>
            <a:ext cx="2035834" cy="1228364"/>
            <a:chOff x="0" y="0"/>
            <a:chExt cx="660400" cy="398466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660400" cy="398466"/>
            </a:xfrm>
            <a:custGeom>
              <a:avLst/>
              <a:gdLst/>
              <a:ahLst/>
              <a:cxnLst/>
              <a:rect r="r" b="b" t="t" l="l"/>
              <a:pathLst>
                <a:path h="398466" w="660400">
                  <a:moveTo>
                    <a:pt x="220252" y="379397"/>
                  </a:moveTo>
                  <a:cubicBezTo>
                    <a:pt x="254109" y="390911"/>
                    <a:pt x="292600" y="398466"/>
                    <a:pt x="330378" y="398466"/>
                  </a:cubicBezTo>
                  <a:cubicBezTo>
                    <a:pt x="368157" y="398466"/>
                    <a:pt x="404509" y="391989"/>
                    <a:pt x="438009" y="380475"/>
                  </a:cubicBezTo>
                  <a:cubicBezTo>
                    <a:pt x="438723" y="380116"/>
                    <a:pt x="439435" y="380116"/>
                    <a:pt x="440148" y="379757"/>
                  </a:cubicBezTo>
                  <a:cubicBezTo>
                    <a:pt x="565955" y="333701"/>
                    <a:pt x="658618" y="212087"/>
                    <a:pt x="660400" y="79168"/>
                  </a:cubicBezTo>
                  <a:lnTo>
                    <a:pt x="660400" y="0"/>
                  </a:lnTo>
                  <a:lnTo>
                    <a:pt x="0" y="0"/>
                  </a:lnTo>
                  <a:lnTo>
                    <a:pt x="0" y="79109"/>
                  </a:lnTo>
                  <a:cubicBezTo>
                    <a:pt x="1782" y="212806"/>
                    <a:pt x="93019" y="334421"/>
                    <a:pt x="220252" y="379397"/>
                  </a:cubicBezTo>
                  <a:close/>
                </a:path>
              </a:pathLst>
            </a:custGeom>
            <a:solidFill>
              <a:srgbClr val="F15A29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19050"/>
              <a:ext cx="660400" cy="29051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40"/>
                </a:lnSpc>
              </a:pP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-5400000">
            <a:off x="4881446" y="8868925"/>
            <a:ext cx="738502" cy="738502"/>
          </a:xfrm>
          <a:custGeom>
            <a:avLst/>
            <a:gdLst/>
            <a:ahLst/>
            <a:cxnLst/>
            <a:rect r="r" b="b" t="t" l="l"/>
            <a:pathLst>
              <a:path h="738502" w="738502">
                <a:moveTo>
                  <a:pt x="0" y="0"/>
                </a:moveTo>
                <a:lnTo>
                  <a:pt x="738502" y="0"/>
                </a:lnTo>
                <a:lnTo>
                  <a:pt x="738502" y="738501"/>
                </a:lnTo>
                <a:lnTo>
                  <a:pt x="0" y="73850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12" id="12"/>
          <p:cNvSpPr/>
          <p:nvPr/>
        </p:nvSpPr>
        <p:spPr>
          <a:xfrm flipV="true">
            <a:off x="5638998" y="6223490"/>
            <a:ext cx="0" cy="4493661"/>
          </a:xfrm>
          <a:prstGeom prst="line">
            <a:avLst/>
          </a:prstGeom>
          <a:ln cap="flat" w="38100">
            <a:solidFill>
              <a:srgbClr val="F15A29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3" id="13"/>
          <p:cNvGrpSpPr/>
          <p:nvPr/>
        </p:nvGrpSpPr>
        <p:grpSpPr>
          <a:xfrm rot="0">
            <a:off x="11953974" y="0"/>
            <a:ext cx="6334026" cy="6204440"/>
            <a:chOff x="0" y="0"/>
            <a:chExt cx="8445368" cy="8272587"/>
          </a:xfrm>
        </p:grpSpPr>
        <p:pic>
          <p:nvPicPr>
            <p:cNvPr name="Picture 14" id="14"/>
            <p:cNvPicPr>
              <a:picLocks noChangeAspect="true"/>
            </p:cNvPicPr>
            <p:nvPr/>
          </p:nvPicPr>
          <p:blipFill>
            <a:blip r:embed="rId4"/>
            <a:srcRect l="15927" t="0" r="15927" b="0"/>
            <a:stretch>
              <a:fillRect/>
            </a:stretch>
          </p:blipFill>
          <p:spPr>
            <a:xfrm flipH="false" flipV="false">
              <a:off x="0" y="0"/>
              <a:ext cx="8445368" cy="8272587"/>
            </a:xfrm>
            <a:prstGeom prst="rect">
              <a:avLst/>
            </a:prstGeom>
          </p:spPr>
        </p:pic>
      </p:grpSp>
      <p:sp>
        <p:nvSpPr>
          <p:cNvPr name="AutoShape 15" id="15"/>
          <p:cNvSpPr/>
          <p:nvPr/>
        </p:nvSpPr>
        <p:spPr>
          <a:xfrm>
            <a:off x="-487584" y="6204440"/>
            <a:ext cx="18775584" cy="0"/>
          </a:xfrm>
          <a:prstGeom prst="line">
            <a:avLst/>
          </a:prstGeom>
          <a:ln cap="flat" w="38100">
            <a:solidFill>
              <a:srgbClr val="F15A29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6" id="16"/>
          <p:cNvSpPr txBox="true"/>
          <p:nvPr/>
        </p:nvSpPr>
        <p:spPr>
          <a:xfrm rot="0">
            <a:off x="792442" y="1028700"/>
            <a:ext cx="11054191" cy="8362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>
              <a:lnSpc>
                <a:spcPts val="5940"/>
              </a:lnSpc>
            </a:pPr>
            <a:r>
              <a:rPr lang="en-US" sz="5500">
                <a:solidFill>
                  <a:srgbClr val="FFFFFF"/>
                </a:solidFill>
                <a:latin typeface="Boston Angel"/>
              </a:rPr>
              <a:t>Conclusion et recommandations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792442" y="2430259"/>
            <a:ext cx="10676215" cy="19572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>
              <a:lnSpc>
                <a:spcPts val="3944"/>
              </a:lnSpc>
            </a:pPr>
            <a:r>
              <a:rPr lang="en-US" sz="2817">
                <a:solidFill>
                  <a:srgbClr val="FFFFFF"/>
                </a:solidFill>
                <a:latin typeface="Canva Sans"/>
              </a:rPr>
              <a:t>- Importance de l'optimisation des hyperparamètres.</a:t>
            </a:r>
          </a:p>
          <a:p>
            <a:pPr>
              <a:lnSpc>
                <a:spcPts val="3944"/>
              </a:lnSpc>
            </a:pPr>
          </a:p>
          <a:p>
            <a:pPr>
              <a:lnSpc>
                <a:spcPts val="3944"/>
              </a:lnSpc>
            </a:pPr>
            <a:r>
              <a:rPr lang="en-US" sz="2817">
                <a:solidFill>
                  <a:srgbClr val="FFFFFF"/>
                </a:solidFill>
                <a:latin typeface="Canva Sans"/>
              </a:rPr>
              <a:t> - Recommandation du modèle LightGBM optimisé.</a:t>
            </a:r>
          </a:p>
          <a:p>
            <a:pPr>
              <a:lnSpc>
                <a:spcPts val="3944"/>
              </a:lnSpc>
            </a:pP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57145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1787385" y="-59406"/>
            <a:ext cx="3256834" cy="5996663"/>
            <a:chOff x="0" y="0"/>
            <a:chExt cx="660400" cy="121596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60400" cy="1215965"/>
            </a:xfrm>
            <a:custGeom>
              <a:avLst/>
              <a:gdLst/>
              <a:ahLst/>
              <a:cxnLst/>
              <a:rect r="r" b="b" t="t" l="l"/>
              <a:pathLst>
                <a:path h="1215965" w="660400">
                  <a:moveTo>
                    <a:pt x="220252" y="1196896"/>
                  </a:moveTo>
                  <a:cubicBezTo>
                    <a:pt x="254109" y="1208410"/>
                    <a:pt x="292600" y="1215965"/>
                    <a:pt x="330378" y="1215965"/>
                  </a:cubicBezTo>
                  <a:cubicBezTo>
                    <a:pt x="368157" y="1215965"/>
                    <a:pt x="404509" y="1209488"/>
                    <a:pt x="438009" y="1197974"/>
                  </a:cubicBezTo>
                  <a:cubicBezTo>
                    <a:pt x="438723" y="1197615"/>
                    <a:pt x="439435" y="1197615"/>
                    <a:pt x="440148" y="1197256"/>
                  </a:cubicBezTo>
                  <a:cubicBezTo>
                    <a:pt x="565955" y="1151200"/>
                    <a:pt x="658618" y="1029586"/>
                    <a:pt x="660400" y="878508"/>
                  </a:cubicBezTo>
                  <a:lnTo>
                    <a:pt x="660400" y="0"/>
                  </a:lnTo>
                  <a:lnTo>
                    <a:pt x="0" y="0"/>
                  </a:lnTo>
                  <a:lnTo>
                    <a:pt x="0" y="877856"/>
                  </a:lnTo>
                  <a:cubicBezTo>
                    <a:pt x="1782" y="1030305"/>
                    <a:pt x="93019" y="1151920"/>
                    <a:pt x="220252" y="1196896"/>
                  </a:cubicBezTo>
                  <a:close/>
                </a:path>
              </a:pathLst>
            </a:custGeom>
            <a:solidFill>
              <a:srgbClr val="8144A2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19050"/>
              <a:ext cx="660400" cy="11080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40"/>
                </a:lnSpc>
              </a:pPr>
            </a:p>
          </p:txBody>
        </p:sp>
      </p:grpSp>
      <p:sp>
        <p:nvSpPr>
          <p:cNvPr name="AutoShape 5" id="5"/>
          <p:cNvSpPr/>
          <p:nvPr/>
        </p:nvSpPr>
        <p:spPr>
          <a:xfrm>
            <a:off x="-487584" y="7049216"/>
            <a:ext cx="18775584" cy="0"/>
          </a:xfrm>
          <a:prstGeom prst="line">
            <a:avLst/>
          </a:prstGeom>
          <a:ln cap="flat" w="38100">
            <a:solidFill>
              <a:srgbClr val="F15A29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6" id="6"/>
          <p:cNvSpPr/>
          <p:nvPr/>
        </p:nvSpPr>
        <p:spPr>
          <a:xfrm flipV="true">
            <a:off x="5638998" y="7029526"/>
            <a:ext cx="0" cy="3687625"/>
          </a:xfrm>
          <a:prstGeom prst="line">
            <a:avLst/>
          </a:prstGeom>
          <a:ln cap="flat" w="38100">
            <a:solidFill>
              <a:srgbClr val="F15A29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7" id="7"/>
          <p:cNvGrpSpPr/>
          <p:nvPr/>
        </p:nvGrpSpPr>
        <p:grpSpPr>
          <a:xfrm rot="-10800000">
            <a:off x="15031166" y="1905674"/>
            <a:ext cx="3256834" cy="5124493"/>
            <a:chOff x="0" y="0"/>
            <a:chExt cx="660400" cy="1039112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660400" cy="1039112"/>
            </a:xfrm>
            <a:custGeom>
              <a:avLst/>
              <a:gdLst/>
              <a:ahLst/>
              <a:cxnLst/>
              <a:rect r="r" b="b" t="t" l="l"/>
              <a:pathLst>
                <a:path h="1039112" w="660400">
                  <a:moveTo>
                    <a:pt x="220252" y="1020043"/>
                  </a:moveTo>
                  <a:cubicBezTo>
                    <a:pt x="254109" y="1031557"/>
                    <a:pt x="292600" y="1039112"/>
                    <a:pt x="330378" y="1039112"/>
                  </a:cubicBezTo>
                  <a:cubicBezTo>
                    <a:pt x="368157" y="1039112"/>
                    <a:pt x="404509" y="1032635"/>
                    <a:pt x="438009" y="1021121"/>
                  </a:cubicBezTo>
                  <a:cubicBezTo>
                    <a:pt x="438723" y="1020762"/>
                    <a:pt x="439435" y="1020762"/>
                    <a:pt x="440148" y="1020402"/>
                  </a:cubicBezTo>
                  <a:cubicBezTo>
                    <a:pt x="565955" y="974347"/>
                    <a:pt x="658618" y="852733"/>
                    <a:pt x="660400" y="705583"/>
                  </a:cubicBezTo>
                  <a:lnTo>
                    <a:pt x="660400" y="0"/>
                  </a:lnTo>
                  <a:lnTo>
                    <a:pt x="0" y="0"/>
                  </a:lnTo>
                  <a:lnTo>
                    <a:pt x="0" y="705059"/>
                  </a:lnTo>
                  <a:cubicBezTo>
                    <a:pt x="1782" y="853452"/>
                    <a:pt x="93019" y="975067"/>
                    <a:pt x="220252" y="1020043"/>
                  </a:cubicBezTo>
                  <a:close/>
                </a:path>
              </a:pathLst>
            </a:custGeom>
            <a:solidFill>
              <a:srgbClr val="652C84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19050"/>
              <a:ext cx="660400" cy="93116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40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5031166" y="-59406"/>
            <a:ext cx="3256834" cy="1965079"/>
            <a:chOff x="0" y="0"/>
            <a:chExt cx="660400" cy="398466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660400" cy="398466"/>
            </a:xfrm>
            <a:custGeom>
              <a:avLst/>
              <a:gdLst/>
              <a:ahLst/>
              <a:cxnLst/>
              <a:rect r="r" b="b" t="t" l="l"/>
              <a:pathLst>
                <a:path h="398466" w="660400">
                  <a:moveTo>
                    <a:pt x="220252" y="379397"/>
                  </a:moveTo>
                  <a:cubicBezTo>
                    <a:pt x="254109" y="390911"/>
                    <a:pt x="292600" y="398466"/>
                    <a:pt x="330378" y="398466"/>
                  </a:cubicBezTo>
                  <a:cubicBezTo>
                    <a:pt x="368157" y="398466"/>
                    <a:pt x="404509" y="391989"/>
                    <a:pt x="438009" y="380475"/>
                  </a:cubicBezTo>
                  <a:cubicBezTo>
                    <a:pt x="438723" y="380116"/>
                    <a:pt x="439435" y="380116"/>
                    <a:pt x="440148" y="379757"/>
                  </a:cubicBezTo>
                  <a:cubicBezTo>
                    <a:pt x="565955" y="333701"/>
                    <a:pt x="658618" y="212087"/>
                    <a:pt x="660400" y="79168"/>
                  </a:cubicBezTo>
                  <a:lnTo>
                    <a:pt x="660400" y="0"/>
                  </a:lnTo>
                  <a:lnTo>
                    <a:pt x="0" y="0"/>
                  </a:lnTo>
                  <a:lnTo>
                    <a:pt x="0" y="79109"/>
                  </a:lnTo>
                  <a:cubicBezTo>
                    <a:pt x="1782" y="212806"/>
                    <a:pt x="93019" y="334421"/>
                    <a:pt x="220252" y="379397"/>
                  </a:cubicBezTo>
                  <a:close/>
                </a:path>
              </a:pathLst>
            </a:custGeom>
            <a:solidFill>
              <a:srgbClr val="F15A29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19050"/>
              <a:ext cx="660400" cy="29051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40"/>
                </a:lnSpc>
              </a:pPr>
            </a:p>
          </p:txBody>
        </p:sp>
      </p:grpSp>
      <p:sp>
        <p:nvSpPr>
          <p:cNvPr name="Freeform 13" id="13"/>
          <p:cNvSpPr/>
          <p:nvPr/>
        </p:nvSpPr>
        <p:spPr>
          <a:xfrm flipH="false" flipV="false" rot="0">
            <a:off x="12869668" y="5937258"/>
            <a:ext cx="1092268" cy="1092268"/>
          </a:xfrm>
          <a:custGeom>
            <a:avLst/>
            <a:gdLst/>
            <a:ahLst/>
            <a:cxnLst/>
            <a:rect r="r" b="b" t="t" l="l"/>
            <a:pathLst>
              <a:path h="1092268" w="1092268">
                <a:moveTo>
                  <a:pt x="0" y="0"/>
                </a:moveTo>
                <a:lnTo>
                  <a:pt x="1092268" y="0"/>
                </a:lnTo>
                <a:lnTo>
                  <a:pt x="1092268" y="1092268"/>
                </a:lnTo>
                <a:lnTo>
                  <a:pt x="0" y="109226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1370719" y="2149396"/>
            <a:ext cx="10143661" cy="16772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>
              <a:lnSpc>
                <a:spcPts val="12145"/>
              </a:lnSpc>
            </a:pPr>
            <a:r>
              <a:rPr lang="en-US" sz="11245">
                <a:solidFill>
                  <a:srgbClr val="FFFFFF"/>
                </a:solidFill>
                <a:latin typeface="Boston Angel"/>
              </a:rPr>
              <a:t>Thank You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1028700" y="4264844"/>
            <a:ext cx="9123747" cy="1083201"/>
            <a:chOff x="0" y="0"/>
            <a:chExt cx="2871626" cy="340929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871626" cy="340929"/>
            </a:xfrm>
            <a:custGeom>
              <a:avLst/>
              <a:gdLst/>
              <a:ahLst/>
              <a:cxnLst/>
              <a:rect r="r" b="b" t="t" l="l"/>
              <a:pathLst>
                <a:path h="340929" w="2871626">
                  <a:moveTo>
                    <a:pt x="67035" y="0"/>
                  </a:moveTo>
                  <a:lnTo>
                    <a:pt x="2804591" y="0"/>
                  </a:lnTo>
                  <a:cubicBezTo>
                    <a:pt x="2841613" y="0"/>
                    <a:pt x="2871626" y="30013"/>
                    <a:pt x="2871626" y="67035"/>
                  </a:cubicBezTo>
                  <a:lnTo>
                    <a:pt x="2871626" y="273894"/>
                  </a:lnTo>
                  <a:cubicBezTo>
                    <a:pt x="2871626" y="310916"/>
                    <a:pt x="2841613" y="340929"/>
                    <a:pt x="2804591" y="340929"/>
                  </a:cubicBezTo>
                  <a:lnTo>
                    <a:pt x="67035" y="340929"/>
                  </a:lnTo>
                  <a:cubicBezTo>
                    <a:pt x="30013" y="340929"/>
                    <a:pt x="0" y="310916"/>
                    <a:pt x="0" y="273894"/>
                  </a:cubicBezTo>
                  <a:lnTo>
                    <a:pt x="0" y="67035"/>
                  </a:lnTo>
                  <a:cubicBezTo>
                    <a:pt x="0" y="30013"/>
                    <a:pt x="30013" y="0"/>
                    <a:pt x="67035" y="0"/>
                  </a:cubicBezTo>
                  <a:close/>
                </a:path>
              </a:pathLst>
            </a:custGeom>
            <a:solidFill>
              <a:srgbClr val="F15A29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19050"/>
              <a:ext cx="2871626" cy="35997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540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8" id="18"/>
          <p:cNvSpPr txBox="true"/>
          <p:nvPr/>
        </p:nvSpPr>
        <p:spPr>
          <a:xfrm rot="0">
            <a:off x="1494914" y="4465653"/>
            <a:ext cx="8372661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>
              <a:lnSpc>
                <a:spcPts val="4759"/>
              </a:lnSpc>
            </a:pPr>
            <a:r>
              <a:rPr lang="en-US" sz="3399">
                <a:solidFill>
                  <a:srgbClr val="FFFFFF"/>
                </a:solidFill>
                <a:latin typeface="Canva Sans"/>
              </a:rPr>
              <a:t>Question &amp; Answer Portion</a:t>
            </a:r>
          </a:p>
        </p:txBody>
      </p:sp>
      <p:sp>
        <p:nvSpPr>
          <p:cNvPr name="AutoShape 19" id="19"/>
          <p:cNvSpPr/>
          <p:nvPr/>
        </p:nvSpPr>
        <p:spPr>
          <a:xfrm flipV="true">
            <a:off x="11768335" y="7014642"/>
            <a:ext cx="0" cy="3687625"/>
          </a:xfrm>
          <a:prstGeom prst="line">
            <a:avLst/>
          </a:prstGeom>
          <a:ln cap="flat" w="38100">
            <a:solidFill>
              <a:srgbClr val="F15A29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DAF_rfD834E</dc:identifier>
  <dcterms:modified xsi:type="dcterms:W3CDTF">2011-08-01T06:04:30Z</dcterms:modified>
  <cp:revision>1</cp:revision>
  <dc:title>Purple and Orange Financial Education Presentation</dc:title>
</cp:coreProperties>
</file>